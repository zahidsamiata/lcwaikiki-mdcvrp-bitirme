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614191-7118-4925-B762-65637511CEAA}" v="2" dt="2026-06-30T12:49:03.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2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ker Çoban" userId="775a84df3a2c86fb" providerId="LiveId" clId="{0602AD5F-A8F1-48D4-9C39-527A86271387}"/>
    <pc:docChg chg="custSel modSld">
      <pc:chgData name="İlker Çoban" userId="775a84df3a2c86fb" providerId="LiveId" clId="{0602AD5F-A8F1-48D4-9C39-527A86271387}" dt="2026-06-30T12:50:42.493" v="29" actId="20577"/>
      <pc:docMkLst>
        <pc:docMk/>
      </pc:docMkLst>
      <pc:sldChg chg="addSp delSp modSp mod">
        <pc:chgData name="İlker Çoban" userId="775a84df3a2c86fb" providerId="LiveId" clId="{0602AD5F-A8F1-48D4-9C39-527A86271387}" dt="2026-06-30T12:50:02.194" v="17" actId="1076"/>
        <pc:sldMkLst>
          <pc:docMk/>
          <pc:sldMk cId="0" sldId="256"/>
        </pc:sldMkLst>
        <pc:spChg chg="del">
          <ac:chgData name="İlker Çoban" userId="775a84df3a2c86fb" providerId="LiveId" clId="{0602AD5F-A8F1-48D4-9C39-527A86271387}" dt="2026-06-30T12:48:39.624" v="1" actId="478"/>
          <ac:spMkLst>
            <pc:docMk/>
            <pc:sldMk cId="0" sldId="256"/>
            <ac:spMk id="4" creationId="{00000000-0000-0000-0000-000000000000}"/>
          </ac:spMkLst>
        </pc:spChg>
        <pc:spChg chg="mod">
          <ac:chgData name="İlker Çoban" userId="775a84df3a2c86fb" providerId="LiveId" clId="{0602AD5F-A8F1-48D4-9C39-527A86271387}" dt="2026-06-30T12:49:28.385" v="12" actId="1076"/>
          <ac:spMkLst>
            <pc:docMk/>
            <pc:sldMk cId="0" sldId="256"/>
            <ac:spMk id="5" creationId="{00000000-0000-0000-0000-000000000000}"/>
          </ac:spMkLst>
        </pc:spChg>
        <pc:spChg chg="mod">
          <ac:chgData name="İlker Çoban" userId="775a84df3a2c86fb" providerId="LiveId" clId="{0602AD5F-A8F1-48D4-9C39-527A86271387}" dt="2026-06-30T12:49:33.188" v="13" actId="1076"/>
          <ac:spMkLst>
            <pc:docMk/>
            <pc:sldMk cId="0" sldId="256"/>
            <ac:spMk id="6" creationId="{00000000-0000-0000-0000-000000000000}"/>
          </ac:spMkLst>
        </pc:spChg>
        <pc:spChg chg="mod">
          <ac:chgData name="İlker Çoban" userId="775a84df3a2c86fb" providerId="LiveId" clId="{0602AD5F-A8F1-48D4-9C39-527A86271387}" dt="2026-06-30T12:49:48.209" v="15" actId="1076"/>
          <ac:spMkLst>
            <pc:docMk/>
            <pc:sldMk cId="0" sldId="256"/>
            <ac:spMk id="7" creationId="{00000000-0000-0000-0000-000000000000}"/>
          </ac:spMkLst>
        </pc:spChg>
        <pc:spChg chg="mod">
          <ac:chgData name="İlker Çoban" userId="775a84df3a2c86fb" providerId="LiveId" clId="{0602AD5F-A8F1-48D4-9C39-527A86271387}" dt="2026-06-30T12:50:02.194" v="17" actId="1076"/>
          <ac:spMkLst>
            <pc:docMk/>
            <pc:sldMk cId="0" sldId="256"/>
            <ac:spMk id="8" creationId="{00000000-0000-0000-0000-000000000000}"/>
          </ac:spMkLst>
        </pc:spChg>
        <pc:spChg chg="mod">
          <ac:chgData name="İlker Çoban" userId="775a84df3a2c86fb" providerId="LiveId" clId="{0602AD5F-A8F1-48D4-9C39-527A86271387}" dt="2026-06-30T12:49:48.209" v="15" actId="1076"/>
          <ac:spMkLst>
            <pc:docMk/>
            <pc:sldMk cId="0" sldId="256"/>
            <ac:spMk id="9" creationId="{00000000-0000-0000-0000-000000000000}"/>
          </ac:spMkLst>
        </pc:spChg>
        <pc:spChg chg="mod">
          <ac:chgData name="İlker Çoban" userId="775a84df3a2c86fb" providerId="LiveId" clId="{0602AD5F-A8F1-48D4-9C39-527A86271387}" dt="2026-06-30T12:49:48.209" v="15" actId="1076"/>
          <ac:spMkLst>
            <pc:docMk/>
            <pc:sldMk cId="0" sldId="256"/>
            <ac:spMk id="10" creationId="{00000000-0000-0000-0000-000000000000}"/>
          </ac:spMkLst>
        </pc:spChg>
        <pc:spChg chg="mod">
          <ac:chgData name="İlker Çoban" userId="775a84df3a2c86fb" providerId="LiveId" clId="{0602AD5F-A8F1-48D4-9C39-527A86271387}" dt="2026-06-30T12:49:48.209" v="15" actId="1076"/>
          <ac:spMkLst>
            <pc:docMk/>
            <pc:sldMk cId="0" sldId="256"/>
            <ac:spMk id="11" creationId="{00000000-0000-0000-0000-000000000000}"/>
          </ac:spMkLst>
        </pc:spChg>
        <pc:spChg chg="mod">
          <ac:chgData name="İlker Çoban" userId="775a84df3a2c86fb" providerId="LiveId" clId="{0602AD5F-A8F1-48D4-9C39-527A86271387}" dt="2026-06-30T12:49:56.531" v="16" actId="1076"/>
          <ac:spMkLst>
            <pc:docMk/>
            <pc:sldMk cId="0" sldId="256"/>
            <ac:spMk id="12" creationId="{00000000-0000-0000-0000-000000000000}"/>
          </ac:spMkLst>
        </pc:spChg>
        <pc:picChg chg="add mod">
          <ac:chgData name="İlker Çoban" userId="775a84df3a2c86fb" providerId="LiveId" clId="{0602AD5F-A8F1-48D4-9C39-527A86271387}" dt="2026-06-30T12:49:13.655" v="8" actId="1076"/>
          <ac:picMkLst>
            <pc:docMk/>
            <pc:sldMk cId="0" sldId="256"/>
            <ac:picMk id="13" creationId="{8D47D52C-86AA-B3D6-22F7-C37EC6F0CB1D}"/>
          </ac:picMkLst>
        </pc:picChg>
        <pc:picChg chg="add mod">
          <ac:chgData name="İlker Çoban" userId="775a84df3a2c86fb" providerId="LiveId" clId="{0602AD5F-A8F1-48D4-9C39-527A86271387}" dt="2026-06-30T12:49:22.569" v="11" actId="14100"/>
          <ac:picMkLst>
            <pc:docMk/>
            <pc:sldMk cId="0" sldId="256"/>
            <ac:picMk id="14" creationId="{C9D10802-9B24-AC1D-CE92-D31E69E2AE2A}"/>
          </ac:picMkLst>
        </pc:picChg>
      </pc:sldChg>
      <pc:sldChg chg="modSp mod">
        <pc:chgData name="İlker Çoban" userId="775a84df3a2c86fb" providerId="LiveId" clId="{0602AD5F-A8F1-48D4-9C39-527A86271387}" dt="2026-06-30T12:50:42.493" v="29" actId="20577"/>
        <pc:sldMkLst>
          <pc:docMk/>
          <pc:sldMk cId="0" sldId="257"/>
        </pc:sldMkLst>
        <pc:spChg chg="mod">
          <ac:chgData name="İlker Çoban" userId="775a84df3a2c86fb" providerId="LiveId" clId="{0602AD5F-A8F1-48D4-9C39-527A86271387}" dt="2026-06-30T12:50:28.880" v="23" actId="20577"/>
          <ac:spMkLst>
            <pc:docMk/>
            <pc:sldMk cId="0" sldId="257"/>
            <ac:spMk id="11" creationId="{00000000-0000-0000-0000-000000000000}"/>
          </ac:spMkLst>
        </pc:spChg>
        <pc:spChg chg="mod">
          <ac:chgData name="İlker Çoban" userId="775a84df3a2c86fb" providerId="LiveId" clId="{0602AD5F-A8F1-48D4-9C39-527A86271387}" dt="2026-06-30T12:50:33.288" v="24" actId="1076"/>
          <ac:spMkLst>
            <pc:docMk/>
            <pc:sldMk cId="0" sldId="257"/>
            <ac:spMk id="12" creationId="{00000000-0000-0000-0000-000000000000}"/>
          </ac:spMkLst>
        </pc:spChg>
        <pc:spChg chg="mod">
          <ac:chgData name="İlker Çoban" userId="775a84df3a2c86fb" providerId="LiveId" clId="{0602AD5F-A8F1-48D4-9C39-527A86271387}" dt="2026-06-30T12:50:35.188" v="25" actId="20577"/>
          <ac:spMkLst>
            <pc:docMk/>
            <pc:sldMk cId="0" sldId="257"/>
            <ac:spMk id="18" creationId="{00000000-0000-0000-0000-000000000000}"/>
          </ac:spMkLst>
        </pc:spChg>
        <pc:spChg chg="mod">
          <ac:chgData name="İlker Çoban" userId="775a84df3a2c86fb" providerId="LiveId" clId="{0602AD5F-A8F1-48D4-9C39-527A86271387}" dt="2026-06-30T12:50:37.284" v="26" actId="20577"/>
          <ac:spMkLst>
            <pc:docMk/>
            <pc:sldMk cId="0" sldId="257"/>
            <ac:spMk id="25" creationId="{00000000-0000-0000-0000-000000000000}"/>
          </ac:spMkLst>
        </pc:spChg>
        <pc:spChg chg="mod">
          <ac:chgData name="İlker Çoban" userId="775a84df3a2c86fb" providerId="LiveId" clId="{0602AD5F-A8F1-48D4-9C39-527A86271387}" dt="2026-06-30T12:50:42.493" v="29" actId="20577"/>
          <ac:spMkLst>
            <pc:docMk/>
            <pc:sldMk cId="0" sldId="257"/>
            <ac:spMk id="32" creationId="{00000000-0000-0000-0000-000000000000}"/>
          </ac:spMkLst>
        </pc:spChg>
        <pc:spChg chg="mod">
          <ac:chgData name="İlker Çoban" userId="775a84df3a2c86fb" providerId="LiveId" clId="{0602AD5F-A8F1-48D4-9C39-527A86271387}" dt="2026-06-30T12:50:40.689" v="28" actId="20577"/>
          <ac:spMkLst>
            <pc:docMk/>
            <pc:sldMk cId="0" sldId="257"/>
            <ac:spMk id="39" creationId="{00000000-0000-0000-0000-000000000000}"/>
          </ac:spMkLst>
        </pc:spChg>
        <pc:spChg chg="mod">
          <ac:chgData name="İlker Çoban" userId="775a84df3a2c86fb" providerId="LiveId" clId="{0602AD5F-A8F1-48D4-9C39-527A86271387}" dt="2026-06-30T12:50:38.817" v="27" actId="20577"/>
          <ac:spMkLst>
            <pc:docMk/>
            <pc:sldMk cId="0" sldId="257"/>
            <ac:spMk id="46" creationId="{00000000-0000-0000-0000-000000000000}"/>
          </ac:spMkLst>
        </pc:spChg>
      </pc:sldChg>
      <pc:sldChg chg="modSp mod">
        <pc:chgData name="İlker Çoban" userId="775a84df3a2c86fb" providerId="LiveId" clId="{0602AD5F-A8F1-48D4-9C39-527A86271387}" dt="2026-06-30T12:48:32.970" v="0" actId="20577"/>
        <pc:sldMkLst>
          <pc:docMk/>
          <pc:sldMk cId="0" sldId="270"/>
        </pc:sldMkLst>
        <pc:spChg chg="mod">
          <ac:chgData name="İlker Çoban" userId="775a84df3a2c86fb" providerId="LiveId" clId="{0602AD5F-A8F1-48D4-9C39-527A86271387}" dt="2026-06-30T12:48:32.970" v="0" actId="20577"/>
          <ac:spMkLst>
            <pc:docMk/>
            <pc:sldMk cId="0" sldId="270"/>
            <ac:spMk id="1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_al__ma_Sayfas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c:style val="2"/>
  <c:chart>
    <c:autoTitleDeleted val="1"/>
    <c:plotArea>
      <c:layout/>
      <c:barChart>
        <c:barDir val="col"/>
        <c:grouping val="clustered"/>
        <c:varyColors val="0"/>
        <c:ser>
          <c:idx val="0"/>
          <c:order val="0"/>
          <c:tx>
            <c:strRef>
              <c:f>Sheet1!$B$1</c:f>
              <c:strCache>
                <c:ptCount val="1"/>
                <c:pt idx="0">
                  <c:v>Taşınan Yük (koli)</c:v>
                </c:pt>
              </c:strCache>
            </c:strRef>
          </c:tx>
          <c:spPr>
            <a:solidFill>
              <a:srgbClr val="A26769"/>
            </a:solidFill>
            <a:effectLst/>
          </c:spPr>
          <c:invertIfNegative val="0"/>
          <c:cat>
            <c:strRef>
              <c:f>Sheet1!$A$2:$A$7</c:f>
              <c:strCache>
                <c:ptCount val="6"/>
                <c:pt idx="0">
                  <c:v>Araç 1 (LM)</c:v>
                </c:pt>
                <c:pt idx="1">
                  <c:v>Araç 2 (Eroğlu)</c:v>
                </c:pt>
                <c:pt idx="2">
                  <c:v>Araç 3 (Hadımköy)</c:v>
                </c:pt>
                <c:pt idx="3">
                  <c:v>Araç 4 (Yalova)</c:v>
                </c:pt>
                <c:pt idx="4">
                  <c:v>Araç 5 (Yalova)</c:v>
                </c:pt>
                <c:pt idx="5">
                  <c:v>Araç 6 (Aksaray)</c:v>
                </c:pt>
              </c:strCache>
            </c:strRef>
          </c:cat>
          <c:val>
            <c:numRef>
              <c:f>Sheet1!$B$2:$B$7</c:f>
              <c:numCache>
                <c:formatCode>General</c:formatCode>
                <c:ptCount val="6"/>
                <c:pt idx="0">
                  <c:v>3000</c:v>
                </c:pt>
                <c:pt idx="1">
                  <c:v>3000</c:v>
                </c:pt>
                <c:pt idx="2">
                  <c:v>3000</c:v>
                </c:pt>
                <c:pt idx="3">
                  <c:v>1950</c:v>
                </c:pt>
                <c:pt idx="4">
                  <c:v>2400</c:v>
                </c:pt>
                <c:pt idx="5">
                  <c:v>1500</c:v>
                </c:pt>
              </c:numCache>
            </c:numRef>
          </c:val>
          <c:extLst>
            <c:ext xmlns:c16="http://schemas.microsoft.com/office/drawing/2014/chart" uri="{C3380CC4-5D6E-409C-BE32-E72D297353CC}">
              <c16:uniqueId val="{00000000-2754-41F9-B8D3-38335D80EF9E}"/>
            </c:ext>
          </c:extLst>
        </c:ser>
        <c:ser>
          <c:idx val="1"/>
          <c:order val="1"/>
          <c:tx>
            <c:strRef>
              <c:f>Sheet1!$C$1</c:f>
              <c:strCache>
                <c:ptCount val="1"/>
                <c:pt idx="0">
                  <c:v>Araç Kapasitesi (koli)</c:v>
                </c:pt>
              </c:strCache>
            </c:strRef>
          </c:tx>
          <c:spPr>
            <a:solidFill>
              <a:srgbClr val="6D2E46"/>
            </a:solidFill>
            <a:effectLst/>
          </c:spPr>
          <c:invertIfNegative val="0"/>
          <c:cat>
            <c:strRef>
              <c:f>Sheet1!$A$2:$A$7</c:f>
              <c:strCache>
                <c:ptCount val="6"/>
                <c:pt idx="0">
                  <c:v>Araç 1 (LM)</c:v>
                </c:pt>
                <c:pt idx="1">
                  <c:v>Araç 2 (Eroğlu)</c:v>
                </c:pt>
                <c:pt idx="2">
                  <c:v>Araç 3 (Hadımköy)</c:v>
                </c:pt>
                <c:pt idx="3">
                  <c:v>Araç 4 (Yalova)</c:v>
                </c:pt>
                <c:pt idx="4">
                  <c:v>Araç 5 (Yalova)</c:v>
                </c:pt>
                <c:pt idx="5">
                  <c:v>Araç 6 (Aksaray)</c:v>
                </c:pt>
              </c:strCache>
            </c:strRef>
          </c:cat>
          <c:val>
            <c:numRef>
              <c:f>Sheet1!$C$2:$C$7</c:f>
              <c:numCache>
                <c:formatCode>General</c:formatCode>
                <c:ptCount val="6"/>
                <c:pt idx="0">
                  <c:v>3000</c:v>
                </c:pt>
                <c:pt idx="1">
                  <c:v>3000</c:v>
                </c:pt>
                <c:pt idx="2">
                  <c:v>3000</c:v>
                </c:pt>
                <c:pt idx="3">
                  <c:v>3000</c:v>
                </c:pt>
                <c:pt idx="4">
                  <c:v>3000</c:v>
                </c:pt>
                <c:pt idx="5">
                  <c:v>3000</c:v>
                </c:pt>
              </c:numCache>
            </c:numRef>
          </c:val>
          <c:extLst>
            <c:ext xmlns:c16="http://schemas.microsoft.com/office/drawing/2014/chart" uri="{C3380CC4-5D6E-409C-BE32-E72D297353CC}">
              <c16:uniqueId val="{00000001-2754-41F9-B8D3-38335D80EF9E}"/>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6B6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DA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6B6F"/>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2B2024"/>
              </a:solidFill>
            </a:defRPr>
          </a:pPr>
          <a:endParaRPr lang="en-US"/>
        </a:p>
      </c:txPr>
    </c:legend>
    <c:plotVisOnly val="1"/>
    <c:dispBlanksAs val="span"/>
    <c:showDLblsOverMax val="1"/>
  </c:chart>
  <c:spPr>
    <a:solidFill>
      <a:srgbClr val="F4ECE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497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Merhaba, hepiniz hoş geldiniz. Ben Yiğit Alp Aslan, yanımda İlker Çoban. Bitirme projemizin konusu: restoran ve kafe işletmelerinde müşteri talebine dayalı gıda israfının azaltılması. Danışmanımız Prof. Dr. Mehmet Mutlu Yenisey. Sunumu iki bölümde yapacağız: ilk yarıda ben problemi, önemini ve literatürü anlatacağım; ikinci yarıda İlker geliştirdiğimiz modeli, bulguları ve sonuçları sunacak. Toplamda yaklaşık 20 dakika sürecek, sorularınızı en sona alalım.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Sunumumuzun yol haritası şöyle. İlk üç başlığı ben anlatacağım: önce problemi ve neden önemli olduğunu, sonra literatürdeki talep tahmini ve stok yönetimi yöntemlerini özetleyeceğim. Dördüncü başlıktan itibaren İlker devralacak: kurduğumuz sistemi, XGBoost modelini, bulgularımızı, gerçekçi kısıtları ve sürdürülebilirlik katkısını, en son da sonucu anlatacak. Sağ alt köşelerde hangi bölümü kimin anlattığını görebilirsiniz.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Kafe ve restoranların temel operasyonel problemi şu: stok yetersizliği ile aşırı stoklama arasındaki dengeyi doğru kuramamak. Soldaki riske bakalım — aşırı stoklama. Bozulabilir üründe fazla üretim doğrudan çöpe gidiyor; üstüne enerji, depolama, hammadde maliyeti biniyor, çevresel kayıp oluşuyor. Sağda tersi — stok yetersizliği. Bu sefer satış kaybediyorsunuz, müşteri memnun olmuyor, marka imajı zarar görüyor. İşletme tam ortada sıkışıyor. Ve neden bu kadar önemli? Çünkü dünyada üretilen gıdanın yaklaşık üçte biri tüketilmeden israf oluyor — bunun önemli bir kısmı da yanlış stok planlamasından kaynaklanıyor. Yani bu sadece işletme kârıyla ilgili bir konu değil, küresel bir sürdürülebilirlik sorunu.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Peki neden kafeler için bu problem daha da zor? Solda üç sebep var. Birincisi, günlük tazelik kritik — süpermarkette haftalık sipariş planı yeterken, kafede ürün gün içinde bozulur. İkincisi, talep çok yönlü: hava durumu, hafta sonu, özel günler, hatta sosyal medya trendleri etkiliyor. Üçüncüsü, bu yüzden EOQ gibi klasik stok modelleri doğrudan uygulanamıyor. Sağdaki panel de bizim çıkış noktamız: literatür çoğunlukla süpermarketlere odaklı. Yapay zekâ tahminini stok optimizasyonuyla BİRLEŞTİREN uygulamalı çalışmalar az; özellikle kafe-restoran özelinde neredeyse yok. İşte projemiz tam bu boşluğu dolduruyor.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Çalışmamızın amacını tek cümleyle şöyle özetleyebiliriz: geçmiş satış verisinden talep tahmini yapmak ve — bu önemli — bu tahminleri ekonomik ve sürdürülebilir stok kararlarına dönüştürmek. Yani amaç sadece 'doğru tahmin' değil, 'doğru karar'. Dört özgün katkımız var: Birincisi veri tabanlı yaklaşım, sezgisel kararların yerini bilimsel sürece bırakması. İkincisi tahmin ile stok modelinin entegrasyonu — tahminler doğrudan Newsvendor stok modeline bağlanıyor. Üçüncüsü sürdürülebilirlik boyutu — raf ömrü, çevresel etki ve israf parametrelerini de işin içine katıyoruz. Dördüncüsü KOBİ odaklılık — büyük zincirlere değil, düşük maliyetle yerel bir kafede uygulanabilecek bir model. Bu noktadan sonra sözü İlker'e bırakıyorum; literatürün kısa bir özetiyle devam edecek... pardon, önce ben literatürü toparlayayım.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Literatürde talep tahmini üç ana aileye ayrılıyor. Soldan başlayalım. Zaman serisi modelleri — hareketli ortalama, üstel düzeltme, ARIMA ve mevsimsellik için SARIMA. Bunlar geçmiş eğilimleri yakalar, kısa vadede güçlüdür. Ortada nedensel modeller — regresyon temelli, hava durumu, fiyat, promosyon gibi dışsal değişkenleri kullanır; sadece tahmin etmez, talebin NEDEN değiştiğini de açıklar. Sağda yapay zekâ ve makine öğrenmesi — Random Forest, XGBoost, sinir ağları, LSTM ve hibrit modeller. Bunlar doğrusal olmayan, karmaşık örüntüleri öğrenebiliyor. Literatürdeki ortak bulgu şu: en iyi sonuç bu üçünün birlikte kullanıldığı durumlarda çıkıyor. Biz de bu yüzden yapay zekâ tarafından XGBoost'u seçtik, birazdan İlker detaylandıracak.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Yiğit Alp.
Stok yönetimi tarafında iki model ailesi var. Solda deterministik modeller — EOQ, EPQ gibi. Bunlar talebi sabit ve bilinir kabul eder; kafe için gerçekçi değil ama teorik temel oluşturuyor. Sağda stokastik modeller — Newsvendor, (Q,r), (s,S). Bunlar talep belirsizliğini dikkate alır, kafe-restoran için çok daha uygun. Alt bantta bozulabilir ürün yönetimi var: FIFO ve FEFO rotasyon politikaları. Özellikle FEFO, yani son kullanma tarihi en yakın olanı önce kullanma mantığı, taze üründe israfı azaltmada FIFO'dan daha etkili. Ve sağdaki kutu bütün literatür taramamızın özeti: tahmin ile stok ayrı iki konu değil, bir sistem olarak ele alınmalı. İşte bu çıkarım bizi uygulamaya götürüyor. Şimdi sözü İlker'e bırakıyorum — kurduğumuz sistemi ve modeli o anlatacak.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Teşekkürler Yiğit Alp. Ben buradan devralıyorum. Önce sistemin genel resmini vereyim. İncelediğimiz sistem, tek bir kafenin tatlı kategorisi. Tatlıyı seçtik çünkü raf ömrü çok kısa, israf riski en yüksek grup. Üstteki akış sistemin kalbi: POS satış verisi ve İstanbul hava durumu giriyor, ön işlemeden geçiyor, XGBoost modeli günlük talebi tahmin ediyor, bu tahmin raf ömrü ve Newsvendor mantığıyla stok kararına dönüşüyor, mutfağa iletiliyor; ve en kritik adım — gün sonunda gerçekleşen satış modele geri besleniyor, yani sistem kendini güncelliyor. Altta amacımızı SMART kriterleriyle tanımladık: tatlı grubu için günlük tahmin üretip israfı minimuma indirmek. Başarıyı MAE, RMSE gibi hata metrikleriyle, atık azalımıyla ve hizmet seviyesiyle ölçüyoruz.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Tahmin tarafında XGBoost'u seçtik. Soldaki kutuda nedenleri var. XGBoost doğrusal olmayan, karmaşık talep ilişkilerini öğrenebiliyor; geçmiş satışı ve dışsal faktörleri aynı model içinde değerlendiriyor; gradyan artırma tekniğiyle hatayı kademeli azaltıyor; ve düzenleme özelliğiyle veriyi ezberlemesini, yani aşırı öğrenmeyi engelliyor. Sağda modele giren değişkenler var — bunlar işin can alıcı kısmı. Sadece geçmiş satışa bakmıyoruz: sıcaklık ve yağış, hafta sonu ve gün bilgisi, özel gün etkisi modele giriyor. Ayrıca özellik mühendisliğiyle türettiğimiz değişkenler var: 1, 2, 3 ve 7 gün önceki satışlar — gecikme değişkenleri; son 3, 7, 14 günün hareketli ortalaması; ve kısa/uzun vade oranından çıkardığımız satış ivmesi. Bu sayede model talebi tek bir açıdan değil, birçok açıdan görüyor. Önemli bir dürüstlük notu: bu aşamada yüksek sadakatli sentetik veri kullandık, gerçek saha verisiyle henüz tam ölçekli kıyaslanmadı — bunu sonda tekrar vurgulayacağım.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Şimdi bulgulara geçelim. Test için Nisan ayını kullandık, dokuz tatlı ürünü. Üstteki üç sayı işin özeti: gerçekleşen toplam satış 6.475 adet, XGBoost'un toplam tahmini 6.561 adet. Yani ay genelinde sadece 86 adet fazla tahmin etmiş — bu da yaklaşık yüzde 1,33'lük bir sapma. Ay toplamı düzeyinde model talebi gerçekten çok yakın yakalamış. Alttaki grafik ürün bazında karşılaştırma. Pembe çubuklar gerçekleşen, koyu olanlar tahmin. Görüldüğü gibi çoğu üründe çubuklar neredeyse aynı. Ama dikkat: bazı ürünlerde tahmin biraz yüksek, bazılarında biraz düşük kalmış. En sağdaki Çilekli Magnolia en yüksek talep gören ürün, 1122 adet; orada tahmin biraz altında kalmış. Bu ürün bazlı farklar bir sonraki slaytta önemli olacak, çünkü stok kararını ürün ürün veriyoruz.</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Bu slayt sunumun en dürüst ve en önemli kısmı. Üç yöntemi karşılaştırdık: SARIMA, XGBoost ve işletmenin mevcut sezgisel yöntemi. Soldaki tabloya bakın. Açık söyleyelim: XGBoost HER metrikte birinci değil. MAE ve MAPE'de aslında mevcut sezgisel yöntem biraz daha iyi — yıldızlardan görüyorsunuz. Ama XGBoost iki kritik metrikte önde: RMSE'de 3,83 ve R²'de 0,82. Sağdaki kutu neden bunun önemli olduğunu açıklıyor. RMSE büyük hataları daha ağır cezalandırır. Stok yönetiminde küçük hatalar tolere edilebilir ama büyük sapmalar kritiktir: büyük fazla tahmin doğrudan israf, büyük eksik tahmin doğrudan satış kaybı demek. XGBoost en düşük RMSE ve en yüksek R² ile tam da bu büyük sapmaları azaltmada en güçlü model. SARIMA ise dışsal faktörleri esnek değerlendiremediği için ikisinin de gerisinde kaldı. Yani XGBoost mevcut yöntemin yerine tamamen geçen değil, onu güçlendiren bir karar destek aracı.</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Şimdi en önemli kısım: tahmin hatasının gerçek karara ve paraya nasıl yansıdığı. XGBoost tahminlerini üretim miktarı kabul edip Newsvendor mantığıyla hesapladık. Üstteki üç sayı: Nisan ayı boyunca 444 adet fazla stok riski, 358 adet stok yetersizliği riski, toplam 802 adet mutlak sapma. Sol alttaki kutu finansal karşılığı: potansiyel fazla stok maliyeti 35.753 TL, potansiyel kâr kaybı 35.457 TL, toplam 71.210 TL. Burada önemli bir nokta — bu gerçekleşmiş zarar DEĞİL. Tahmin hatasının stok kararına yansıması durumunda oluşabilecek potansiyel etki. Hesapta fazla stoğu birim maliyet üzerinden, satış kaybını ise birim kâr üzerinden ayrı ayrı değerlendirdik. Sağ altta da en kritik ürün: Çilekli Magnolia. Tek başına 14.920 TL'lik finansal etki. Hem en çok satan ürün hem de 1 günlük raf ömrü var — bu yüzden ona özel güvenlik stoğu ya da özel gün katsayısı uygulanması gerekiyor. Çıkarım net: stok kararı sadece adet değil, ürünün maliyeti, kâr marjı ve bozulabilirliğiyle birlikte verilmeli.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Bir sistem laboratuvarda iyi çalışıyor olabilir; ama gerçek kafede uygulanabilir mi? Onu altı kısıt boyutunda değerlendirdik. Ekonomik: en büyük avantajımız — pahalı donanım gerektirmiyor, ama disiplinli kullanım şart, yoksa fayda gelmez. Operasyonel: günlük üretim planına kolay entegre olmalı; ve POS verisinin doğru kaydı kritik, çünkü ürün gün içinde tükendiğinde karşılanamayan talep kayda geçmiyor. Teknolojik: temel POS altyapısı ve basit raporlama yeterli, ama model çıktıları sadeleştirilmeli — çalışana teknik hata değeri değil, anlaşılır öneri sunulmalı. Çevresel: israfı azaltıyor ama soğutma enerjisi ve sıfırlanamayan tahmin hatası gibi kalıntı etkiler var. Sosyal: personelin yeni yönteme uyumu ve kısa bir eğitim gerekiyor. Yasal: gıda güvenliği, hijyen ve veri gizliliği her zaman öncelikli — model bunları geçersiz kılan değil, destekleyen bir araç. Yani sistem uygulanabilir, ama bu kısıtlar gözetilerek.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Projemiz Birleşmiş Milletler Sürdürülebilir Kalkınma Hedefleriyle de doğrudan ilişkili. Soldaki büyük kutu en güçlü bağımız: Hedef 12, Sorumlu Tüketim ve Üretim. Sistemimiz 'ne kadar çok üretirsek o kadar iyi' anlayışının yerine 'gerçek talebe uygun üretim' anlayışını koyuyor; fazla üretimi engelleyerek doğrudan gıda israfını önlüyor. Sağda destekleyici beş hedef var: Hedef 2 açlığa son — gıda kaynaklarının verimli kullanımı; Hedef 8 ekonomik büyüme — maliyet kontrolü ve verimlilik; Hedef 9 yenilikçilik — küçük bir kafede bile makine öğrenmesi uygulanabildiğini göstermesi; Hedef 13 iklim eylemi — atık ve dolaylı karbon emisyonu azalımı; ve Hedef 17 ortaklıklar — sistemin POS sağlayıcı, çalışan, tedarikçi gibi çok paydaşlı bir iş birliği gerektirmesi. Yani teknik bir model olmanın ötesinde, sürdürülebilirliğe katkı sunan bir yaklaşım.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Akademik dürüstlük açısından sınırlılıklarımızı açıkça paylaşıyoruz — soldaki kutu. Birincisi ve en önemlisi: veri setimiz sentetik, gerçek müşteri davranışını tam yansıtmayabilir. İkincisi sadece Nisan ayını test ettik; mevsimselliği görmek için daha uzun veri gerekiyor. Üçüncüsü müşteri trafiği, kampanya, sosyal medya gibi bazı değişkenler kapsam dışı kaldı. Dördüncüsü maliyet hesabında hurda değerini sıfır kabul ettik. Beşincisi tahmini doğrudan üretim miktarı saydık; gerçekte yönetici bunu nihai emir değil, karar desteği olarak kullanmalı. Sağda da gelecek çalışmalar: gerçek POS verisiyle en az bir yıllık analiz; ek değişkenlerin eklenmesi ve özellikle stok-dışı durumların kaydı; Newsvendor'ın ürün bazlı servis seviyesiyle detaylandırılması; çalışanlar için kullanıcı dostu bir panel; ve LightGBM, Prophet, LSTM gibi alternatif modellerle karşılaştırma. Bu yol haritası projeyi akademik bir modelden gerçek operasyonda kullanılabilir bir araca dönüştürür.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ANLATICI: İlker (kapanış birlikte).
Toparlayalım. Çalışmamız üç şeyi gösterdi. Birincisi doğru model seçiminin önemi: XGBoost, RMSE ve R²'de öne çıkarak büyük ve maliyetli sapmaları azaltıyor. İkincisi tahmini karara dönüştürmenin değeri: Newsvendor yaklaşımıyla israf ve satış kaybı arasında denge kuruyoruz. Üçüncüsü sürdürülebilirlik ve erişilebilirlik: küçük ve orta ölçekli işletmeler yüksek maliyetli sistemlere ihtiyaç duymadan veri temelli karar kültürü geliştirebilir. En önemli katkımız, talep tahminini stok yönetimiyle ilişkilendirerek kafeler için uygulanabilir bir karar destek modeli sunmamız. Bizi dinlediğiniz için teşekkür ederiz; sorularınızı memnuniyetle yanıtlarız.</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10"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937760" cy="4937760"/>
          </a:xfrm>
          <a:prstGeom prst="ellipse">
            <a:avLst/>
          </a:prstGeom>
          <a:solidFill>
            <a:srgbClr val="A26769">
              <a:alpha val="22000"/>
            </a:srgbClr>
          </a:solidFill>
          <a:ln/>
        </p:spPr>
        <p:txBody>
          <a:bodyPr/>
          <a:lstStyle/>
          <a:p>
            <a:endParaRPr lang="tr-TR"/>
          </a:p>
        </p:txBody>
      </p:sp>
      <p:sp>
        <p:nvSpPr>
          <p:cNvPr id="3" name="Shape 1"/>
          <p:cNvSpPr/>
          <p:nvPr/>
        </p:nvSpPr>
        <p:spPr>
          <a:xfrm>
            <a:off x="10058400" y="3840480"/>
            <a:ext cx="3291840" cy="3291840"/>
          </a:xfrm>
          <a:prstGeom prst="ellipse">
            <a:avLst/>
          </a:prstGeom>
          <a:solidFill>
            <a:srgbClr val="C8902B">
              <a:alpha val="18000"/>
            </a:srgbClr>
          </a:solidFill>
          <a:ln/>
        </p:spPr>
        <p:txBody>
          <a:bodyPr/>
          <a:lstStyle/>
          <a:p>
            <a:endParaRPr lang="tr-TR"/>
          </a:p>
        </p:txBody>
      </p:sp>
      <p:sp>
        <p:nvSpPr>
          <p:cNvPr id="5" name="Text 3"/>
          <p:cNvSpPr/>
          <p:nvPr/>
        </p:nvSpPr>
        <p:spPr>
          <a:xfrm>
            <a:off x="1194216" y="1293813"/>
            <a:ext cx="10058400" cy="365760"/>
          </a:xfrm>
          <a:prstGeom prst="rect">
            <a:avLst/>
          </a:prstGeom>
          <a:noFill/>
          <a:ln/>
        </p:spPr>
        <p:txBody>
          <a:bodyPr wrap="square" lIns="0" tIns="0" rIns="0" bIns="0" rtlCol="0" anchor="ctr"/>
          <a:lstStyle/>
          <a:p>
            <a:pPr marL="0" indent="0">
              <a:buNone/>
            </a:pPr>
            <a:r>
              <a:rPr lang="en-US" sz="1300" b="1" kern="0" spc="400" dirty="0">
                <a:solidFill>
                  <a:srgbClr val="C8902B"/>
                </a:solidFill>
                <a:latin typeface="Calibri" pitchFamily="34" charset="0"/>
                <a:ea typeface="Calibri" pitchFamily="34" charset="-122"/>
                <a:cs typeface="Calibri" pitchFamily="34" charset="-120"/>
              </a:rPr>
              <a:t>BİTİRME PROJESİ</a:t>
            </a:r>
            <a:endParaRPr lang="en-US" sz="1300" dirty="0"/>
          </a:p>
        </p:txBody>
      </p:sp>
      <p:sp>
        <p:nvSpPr>
          <p:cNvPr id="6" name="Text 4"/>
          <p:cNvSpPr/>
          <p:nvPr/>
        </p:nvSpPr>
        <p:spPr>
          <a:xfrm>
            <a:off x="1194216" y="1874520"/>
            <a:ext cx="10424160" cy="1737360"/>
          </a:xfrm>
          <a:prstGeom prst="rect">
            <a:avLst/>
          </a:prstGeom>
          <a:noFill/>
          <a:ln/>
        </p:spPr>
        <p:txBody>
          <a:bodyPr wrap="square" lIns="0" tIns="0" rIns="0" bIns="0" rtlCol="0" anchor="ctr"/>
          <a:lstStyle/>
          <a:p>
            <a:pPr marL="0" indent="0">
              <a:lnSpc>
                <a:spcPct val="102000"/>
              </a:lnSpc>
              <a:buNone/>
            </a:pPr>
            <a:r>
              <a:rPr lang="en-US" sz="3800" b="1" dirty="0">
                <a:solidFill>
                  <a:srgbClr val="FFFFFF"/>
                </a:solidFill>
                <a:latin typeface="Cambria" pitchFamily="34" charset="0"/>
                <a:ea typeface="Cambria" pitchFamily="34" charset="-122"/>
                <a:cs typeface="Cambria" pitchFamily="34" charset="-120"/>
              </a:rPr>
              <a:t>LC Waikiki Depo–Mağaza Dağıtım Sürecinin</a:t>
            </a:r>
            <a:endParaRPr lang="en-US" sz="3800" dirty="0"/>
          </a:p>
          <a:p>
            <a:pPr marL="0" indent="0">
              <a:lnSpc>
                <a:spcPct val="102000"/>
              </a:lnSpc>
              <a:buNone/>
            </a:pPr>
            <a:r>
              <a:rPr lang="en-US" sz="3800" b="1" dirty="0">
                <a:solidFill>
                  <a:srgbClr val="FFFFFF"/>
                </a:solidFill>
                <a:latin typeface="Cambria" pitchFamily="34" charset="0"/>
                <a:ea typeface="Cambria" pitchFamily="34" charset="-122"/>
                <a:cs typeface="Cambria" pitchFamily="34" charset="-120"/>
              </a:rPr>
              <a:t>Çok Depolu Araç Rotalama Problemi ve Maliyet Analizi ile Değerlendirilmesi</a:t>
            </a:r>
            <a:endParaRPr lang="en-US" sz="3800" dirty="0"/>
          </a:p>
        </p:txBody>
      </p:sp>
      <p:sp>
        <p:nvSpPr>
          <p:cNvPr id="7" name="Text 5"/>
          <p:cNvSpPr/>
          <p:nvPr/>
        </p:nvSpPr>
        <p:spPr>
          <a:xfrm>
            <a:off x="1611192" y="3611880"/>
            <a:ext cx="10058400" cy="457200"/>
          </a:xfrm>
          <a:prstGeom prst="rect">
            <a:avLst/>
          </a:prstGeom>
          <a:noFill/>
          <a:ln/>
        </p:spPr>
        <p:txBody>
          <a:bodyPr wrap="square" lIns="0" tIns="0" rIns="0" bIns="0" rtlCol="0" anchor="ctr"/>
          <a:lstStyle/>
          <a:p>
            <a:pPr marL="0" indent="0">
              <a:buNone/>
            </a:pPr>
            <a:r>
              <a:rPr lang="en-US" sz="1800" i="1" dirty="0">
                <a:solidFill>
                  <a:srgbClr val="F4ECE2"/>
                </a:solidFill>
                <a:latin typeface="Calibri" pitchFamily="34" charset="0"/>
                <a:ea typeface="Calibri" pitchFamily="34" charset="-122"/>
                <a:cs typeface="Calibri" pitchFamily="34" charset="-120"/>
              </a:rPr>
              <a:t>Rota Optimizasyonu ve Outsource–In-house Maliyet Karşılaştırması</a:t>
            </a:r>
            <a:endParaRPr lang="en-US" sz="1800" dirty="0"/>
          </a:p>
        </p:txBody>
      </p:sp>
      <p:sp>
        <p:nvSpPr>
          <p:cNvPr id="8" name="Shape 6"/>
          <p:cNvSpPr/>
          <p:nvPr/>
        </p:nvSpPr>
        <p:spPr>
          <a:xfrm>
            <a:off x="1075819" y="4276220"/>
            <a:ext cx="4754880" cy="0"/>
          </a:xfrm>
          <a:prstGeom prst="line">
            <a:avLst/>
          </a:prstGeom>
          <a:noFill/>
          <a:ln w="19050">
            <a:solidFill>
              <a:srgbClr val="A26769"/>
            </a:solidFill>
            <a:prstDash val="solid"/>
          </a:ln>
        </p:spPr>
        <p:txBody>
          <a:bodyPr/>
          <a:lstStyle/>
          <a:p>
            <a:endParaRPr lang="tr-TR"/>
          </a:p>
        </p:txBody>
      </p:sp>
      <p:sp>
        <p:nvSpPr>
          <p:cNvPr id="9" name="Text 7"/>
          <p:cNvSpPr/>
          <p:nvPr/>
        </p:nvSpPr>
        <p:spPr>
          <a:xfrm>
            <a:off x="1194216" y="4572000"/>
            <a:ext cx="64008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Oğuz Yalçın</a:t>
            </a:r>
            <a:r>
              <a:rPr lang="en-US" sz="1300" dirty="0">
                <a:solidFill>
                  <a:srgbClr val="F4ECE2"/>
                </a:solidFill>
                <a:latin typeface="Calibri" pitchFamily="34" charset="0"/>
                <a:ea typeface="Calibri" pitchFamily="34" charset="-122"/>
                <a:cs typeface="Calibri" pitchFamily="34" charset="-120"/>
              </a:rPr>
              <a:t>   ·   1307200096</a:t>
            </a:r>
            <a:endParaRPr lang="en-US" sz="1500" dirty="0"/>
          </a:p>
        </p:txBody>
      </p:sp>
      <p:sp>
        <p:nvSpPr>
          <p:cNvPr id="10" name="Text 8"/>
          <p:cNvSpPr/>
          <p:nvPr/>
        </p:nvSpPr>
        <p:spPr>
          <a:xfrm>
            <a:off x="1194216" y="4983480"/>
            <a:ext cx="64008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Zahid Sami Ata</a:t>
            </a:r>
            <a:r>
              <a:rPr lang="en-US" sz="1300" dirty="0">
                <a:solidFill>
                  <a:srgbClr val="F4ECE2"/>
                </a:solidFill>
                <a:latin typeface="Calibri" pitchFamily="34" charset="0"/>
                <a:ea typeface="Calibri" pitchFamily="34" charset="-122"/>
                <a:cs typeface="Calibri" pitchFamily="34" charset="-120"/>
              </a:rPr>
              <a:t>   ·   1307210084</a:t>
            </a:r>
            <a:endParaRPr lang="en-US" sz="1500" dirty="0"/>
          </a:p>
        </p:txBody>
      </p:sp>
      <p:sp>
        <p:nvSpPr>
          <p:cNvPr id="11" name="Text 9"/>
          <p:cNvSpPr/>
          <p:nvPr/>
        </p:nvSpPr>
        <p:spPr>
          <a:xfrm>
            <a:off x="1194216" y="5715000"/>
            <a:ext cx="7315200" cy="365760"/>
          </a:xfrm>
          <a:prstGeom prst="rect">
            <a:avLst/>
          </a:prstGeom>
          <a:noFill/>
          <a:ln/>
        </p:spPr>
        <p:txBody>
          <a:bodyPr wrap="square" lIns="0" tIns="0" rIns="0" bIns="0" rtlCol="0" anchor="ctr"/>
          <a:lstStyle/>
          <a:p>
            <a:pPr marL="0" indent="0">
              <a:buNone/>
            </a:pPr>
            <a:r>
              <a:rPr lang="en-US" sz="1200" b="1" dirty="0">
                <a:solidFill>
                  <a:srgbClr val="C8902B"/>
                </a:solidFill>
                <a:latin typeface="Calibri" pitchFamily="34" charset="0"/>
                <a:ea typeface="Calibri" pitchFamily="34" charset="-122"/>
                <a:cs typeface="Calibri" pitchFamily="34" charset="-120"/>
              </a:rPr>
              <a:t>Danışman   </a:t>
            </a:r>
            <a:r>
              <a:rPr lang="en-US" sz="1300" dirty="0">
                <a:solidFill>
                  <a:srgbClr val="F4ECE2"/>
                </a:solidFill>
                <a:latin typeface="Calibri" pitchFamily="34" charset="0"/>
                <a:ea typeface="Calibri" pitchFamily="34" charset="-122"/>
                <a:cs typeface="Calibri" pitchFamily="34" charset="-120"/>
              </a:rPr>
              <a:t>Prof. Dr. Şule Önsel Ekici</a:t>
            </a:r>
            <a:endParaRPr lang="en-US" sz="1200" dirty="0"/>
          </a:p>
        </p:txBody>
      </p:sp>
      <p:sp>
        <p:nvSpPr>
          <p:cNvPr id="12" name="Text 10"/>
          <p:cNvSpPr/>
          <p:nvPr/>
        </p:nvSpPr>
        <p:spPr>
          <a:xfrm>
            <a:off x="391783" y="6141409"/>
            <a:ext cx="7315200" cy="365760"/>
          </a:xfrm>
          <a:prstGeom prst="rect">
            <a:avLst/>
          </a:prstGeom>
          <a:noFill/>
          <a:ln/>
        </p:spPr>
        <p:txBody>
          <a:bodyPr wrap="square" lIns="0" tIns="0" rIns="0" bIns="0" rtlCol="0" anchor="ctr"/>
          <a:lstStyle/>
          <a:p>
            <a:pPr marL="0" indent="0">
              <a:buNone/>
            </a:pPr>
            <a:r>
              <a:rPr lang="en-US" sz="1100" dirty="0">
                <a:solidFill>
                  <a:srgbClr val="A26769"/>
                </a:solidFill>
                <a:latin typeface="Calibri" pitchFamily="34" charset="0"/>
                <a:ea typeface="Calibri" pitchFamily="34" charset="-122"/>
                <a:cs typeface="Calibri" pitchFamily="34" charset="-120"/>
              </a:rPr>
              <a:t>Haziran 2026 · İstanbul</a:t>
            </a:r>
            <a:endParaRPr lang="en-US" sz="1100" dirty="0"/>
          </a:p>
        </p:txBody>
      </p:sp>
      <p:pic>
        <p:nvPicPr>
          <p:cNvPr id="13" name="Resim 12">
            <a:extLst>
              <a:ext uri="{FF2B5EF4-FFF2-40B4-BE49-F238E27FC236}">
                <a16:creationId xmlns:a16="http://schemas.microsoft.com/office/drawing/2014/main" id="{8D47D52C-86AA-B3D6-22F7-C37EC6F0CB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74742" y="132398"/>
            <a:ext cx="1119474" cy="1115695"/>
          </a:xfrm>
          <a:prstGeom prst="rect">
            <a:avLst/>
          </a:prstGeom>
          <a:noFill/>
          <a:ln>
            <a:noFill/>
          </a:ln>
        </p:spPr>
      </p:pic>
      <p:pic>
        <p:nvPicPr>
          <p:cNvPr id="14" name="Resim 13">
            <a:extLst>
              <a:ext uri="{FF2B5EF4-FFF2-40B4-BE49-F238E27FC236}">
                <a16:creationId xmlns:a16="http://schemas.microsoft.com/office/drawing/2014/main" id="{C9D10802-9B24-AC1D-CE92-D31E69E2AE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10808209" y="95283"/>
            <a:ext cx="1184878" cy="11848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SUNUM PLANI</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Bugün Ne Anlatacağız?</a:t>
            </a:r>
            <a:endParaRPr lang="en-US" sz="3000" dirty="0"/>
          </a:p>
        </p:txBody>
      </p:sp>
      <p:sp>
        <p:nvSpPr>
          <p:cNvPr id="5" name="Shape 3"/>
          <p:cNvSpPr/>
          <p:nvPr/>
        </p:nvSpPr>
        <p:spPr>
          <a:xfrm>
            <a:off x="548640" y="2148840"/>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6" name="Text 4"/>
          <p:cNvSpPr/>
          <p:nvPr/>
        </p:nvSpPr>
        <p:spPr>
          <a:xfrm>
            <a:off x="749808" y="229514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01</a:t>
            </a:r>
            <a:endParaRPr lang="en-US" sz="2600" dirty="0"/>
          </a:p>
        </p:txBody>
      </p:sp>
      <p:pic>
        <p:nvPicPr>
          <p:cNvPr id="8" name="Image 0" descr="preencoded.png"/>
          <p:cNvPicPr>
            <a:picLocks noChangeAspect="1"/>
          </p:cNvPicPr>
          <p:nvPr/>
        </p:nvPicPr>
        <p:blipFill>
          <a:blip r:embed="rId3"/>
          <a:stretch>
            <a:fillRect/>
          </a:stretch>
        </p:blipFill>
        <p:spPr>
          <a:xfrm>
            <a:off x="3434486" y="2492654"/>
            <a:ext cx="263347" cy="263347"/>
          </a:xfrm>
          <a:prstGeom prst="rect">
            <a:avLst/>
          </a:prstGeom>
        </p:spPr>
      </p:pic>
      <p:sp>
        <p:nvSpPr>
          <p:cNvPr id="9" name="Text 6"/>
          <p:cNvSpPr/>
          <p:nvPr/>
        </p:nvSpPr>
        <p:spPr>
          <a:xfrm>
            <a:off x="768096" y="282549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Problem ve Önem</a:t>
            </a:r>
            <a:endParaRPr lang="en-US" sz="1500" dirty="0"/>
          </a:p>
        </p:txBody>
      </p:sp>
      <p:sp>
        <p:nvSpPr>
          <p:cNvPr id="10" name="Text 7"/>
          <p:cNvSpPr/>
          <p:nvPr/>
        </p:nvSpPr>
        <p:spPr>
          <a:xfrm>
            <a:off x="768096" y="313639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Dağıtım maliyetleri neden kritik bir sorun?</a:t>
            </a:r>
            <a:endParaRPr lang="en-US" sz="1050" dirty="0"/>
          </a:p>
        </p:txBody>
      </p:sp>
      <p:sp>
        <p:nvSpPr>
          <p:cNvPr id="11" name="Text 8"/>
          <p:cNvSpPr/>
          <p:nvPr/>
        </p:nvSpPr>
        <p:spPr>
          <a:xfrm>
            <a:off x="768096" y="3319272"/>
            <a:ext cx="3108960" cy="256032"/>
          </a:xfrm>
          <a:prstGeom prst="rect">
            <a:avLst/>
          </a:prstGeom>
          <a:noFill/>
          <a:ln/>
        </p:spPr>
        <p:txBody>
          <a:bodyPr wrap="square" lIns="0" tIns="0" rIns="0" bIns="0" rtlCol="0" anchor="ctr"/>
          <a:lstStyle/>
          <a:p>
            <a:pPr marL="0" indent="0" algn="r">
              <a:buNone/>
            </a:pPr>
            <a:endParaRPr lang="en-US" sz="900" dirty="0"/>
          </a:p>
        </p:txBody>
      </p:sp>
      <p:sp>
        <p:nvSpPr>
          <p:cNvPr id="12" name="Shape 9"/>
          <p:cNvSpPr/>
          <p:nvPr/>
        </p:nvSpPr>
        <p:spPr>
          <a:xfrm>
            <a:off x="4461357" y="2185416"/>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3" name="Text 10"/>
          <p:cNvSpPr/>
          <p:nvPr/>
        </p:nvSpPr>
        <p:spPr>
          <a:xfrm>
            <a:off x="4526280" y="229514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02</a:t>
            </a:r>
            <a:endParaRPr lang="en-US" sz="2600" dirty="0"/>
          </a:p>
        </p:txBody>
      </p:sp>
      <p:pic>
        <p:nvPicPr>
          <p:cNvPr id="15" name="Image 1" descr="preencoded.png"/>
          <p:cNvPicPr>
            <a:picLocks noChangeAspect="1"/>
          </p:cNvPicPr>
          <p:nvPr/>
        </p:nvPicPr>
        <p:blipFill>
          <a:blip r:embed="rId4"/>
          <a:stretch>
            <a:fillRect/>
          </a:stretch>
        </p:blipFill>
        <p:spPr>
          <a:xfrm>
            <a:off x="7210958" y="2492654"/>
            <a:ext cx="263347" cy="263347"/>
          </a:xfrm>
          <a:prstGeom prst="rect">
            <a:avLst/>
          </a:prstGeom>
        </p:spPr>
      </p:pic>
      <p:sp>
        <p:nvSpPr>
          <p:cNvPr id="16" name="Text 12"/>
          <p:cNvSpPr/>
          <p:nvPr/>
        </p:nvSpPr>
        <p:spPr>
          <a:xfrm>
            <a:off x="4544568" y="282549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Literatür Özeti</a:t>
            </a:r>
            <a:endParaRPr lang="en-US" sz="1500" dirty="0"/>
          </a:p>
        </p:txBody>
      </p:sp>
      <p:sp>
        <p:nvSpPr>
          <p:cNvPr id="17" name="Text 13"/>
          <p:cNvSpPr/>
          <p:nvPr/>
        </p:nvSpPr>
        <p:spPr>
          <a:xfrm>
            <a:off x="4544568" y="313639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VRP, MDCVRP ve outsource–in-house yaklaşımları</a:t>
            </a:r>
            <a:endParaRPr lang="en-US" sz="1050" dirty="0"/>
          </a:p>
        </p:txBody>
      </p:sp>
      <p:sp>
        <p:nvSpPr>
          <p:cNvPr id="18" name="Text 14"/>
          <p:cNvSpPr/>
          <p:nvPr/>
        </p:nvSpPr>
        <p:spPr>
          <a:xfrm>
            <a:off x="4544568" y="3319272"/>
            <a:ext cx="3108960" cy="256032"/>
          </a:xfrm>
          <a:prstGeom prst="rect">
            <a:avLst/>
          </a:prstGeom>
          <a:noFill/>
          <a:ln/>
        </p:spPr>
        <p:txBody>
          <a:bodyPr wrap="square" lIns="0" tIns="0" rIns="0" bIns="0" rtlCol="0" anchor="ctr"/>
          <a:lstStyle/>
          <a:p>
            <a:pPr marL="0" indent="0" algn="r">
              <a:buNone/>
            </a:pPr>
            <a:endParaRPr lang="en-US" sz="900" dirty="0"/>
          </a:p>
        </p:txBody>
      </p:sp>
      <p:sp>
        <p:nvSpPr>
          <p:cNvPr id="19" name="Shape 15"/>
          <p:cNvSpPr/>
          <p:nvPr/>
        </p:nvSpPr>
        <p:spPr>
          <a:xfrm>
            <a:off x="8101584" y="2148840"/>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0" name="Text 16"/>
          <p:cNvSpPr/>
          <p:nvPr/>
        </p:nvSpPr>
        <p:spPr>
          <a:xfrm>
            <a:off x="8302752" y="229514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03</a:t>
            </a:r>
            <a:endParaRPr lang="en-US" sz="2600" dirty="0"/>
          </a:p>
        </p:txBody>
      </p:sp>
      <p:pic>
        <p:nvPicPr>
          <p:cNvPr id="22" name="Image 2" descr="preencoded.png"/>
          <p:cNvPicPr>
            <a:picLocks noChangeAspect="1"/>
          </p:cNvPicPr>
          <p:nvPr/>
        </p:nvPicPr>
        <p:blipFill>
          <a:blip r:embed="rId5"/>
          <a:stretch>
            <a:fillRect/>
          </a:stretch>
        </p:blipFill>
        <p:spPr>
          <a:xfrm>
            <a:off x="10987430" y="2492654"/>
            <a:ext cx="263347" cy="263347"/>
          </a:xfrm>
          <a:prstGeom prst="rect">
            <a:avLst/>
          </a:prstGeom>
        </p:spPr>
      </p:pic>
      <p:sp>
        <p:nvSpPr>
          <p:cNvPr id="23" name="Text 18"/>
          <p:cNvSpPr/>
          <p:nvPr/>
        </p:nvSpPr>
        <p:spPr>
          <a:xfrm>
            <a:off x="8321040" y="282549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Sistem ve Yöntem</a:t>
            </a:r>
            <a:endParaRPr lang="en-US" sz="1500" dirty="0"/>
          </a:p>
        </p:txBody>
      </p:sp>
      <p:sp>
        <p:nvSpPr>
          <p:cNvPr id="24" name="Text 19"/>
          <p:cNvSpPr/>
          <p:nvPr/>
        </p:nvSpPr>
        <p:spPr>
          <a:xfrm>
            <a:off x="8321040" y="313639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OR-Tools tabanlı MDCVRP karar destek modeli</a:t>
            </a:r>
            <a:endParaRPr lang="en-US" sz="1050" dirty="0"/>
          </a:p>
        </p:txBody>
      </p:sp>
      <p:sp>
        <p:nvSpPr>
          <p:cNvPr id="25" name="Text 20"/>
          <p:cNvSpPr/>
          <p:nvPr/>
        </p:nvSpPr>
        <p:spPr>
          <a:xfrm>
            <a:off x="8321040" y="3319272"/>
            <a:ext cx="3108960" cy="256032"/>
          </a:xfrm>
          <a:prstGeom prst="rect">
            <a:avLst/>
          </a:prstGeom>
          <a:noFill/>
          <a:ln/>
        </p:spPr>
        <p:txBody>
          <a:bodyPr wrap="square" lIns="0" tIns="0" rIns="0" bIns="0" rtlCol="0" anchor="ctr"/>
          <a:lstStyle/>
          <a:p>
            <a:pPr marL="0" indent="0" algn="r">
              <a:buNone/>
            </a:pPr>
            <a:endParaRPr lang="en-US" sz="900" dirty="0"/>
          </a:p>
        </p:txBody>
      </p:sp>
      <p:sp>
        <p:nvSpPr>
          <p:cNvPr id="26" name="Shape 21"/>
          <p:cNvSpPr/>
          <p:nvPr/>
        </p:nvSpPr>
        <p:spPr>
          <a:xfrm>
            <a:off x="548640" y="3886200"/>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7" name="Text 22"/>
          <p:cNvSpPr/>
          <p:nvPr/>
        </p:nvSpPr>
        <p:spPr>
          <a:xfrm>
            <a:off x="749808" y="403250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04</a:t>
            </a:r>
            <a:endParaRPr lang="en-US" sz="2600" dirty="0"/>
          </a:p>
        </p:txBody>
      </p:sp>
      <p:pic>
        <p:nvPicPr>
          <p:cNvPr id="29" name="Image 3" descr="preencoded.png"/>
          <p:cNvPicPr>
            <a:picLocks noChangeAspect="1"/>
          </p:cNvPicPr>
          <p:nvPr/>
        </p:nvPicPr>
        <p:blipFill>
          <a:blip r:embed="rId6"/>
          <a:stretch>
            <a:fillRect/>
          </a:stretch>
        </p:blipFill>
        <p:spPr>
          <a:xfrm>
            <a:off x="3434486" y="4230014"/>
            <a:ext cx="263347" cy="263347"/>
          </a:xfrm>
          <a:prstGeom prst="rect">
            <a:avLst/>
          </a:prstGeom>
        </p:spPr>
      </p:pic>
      <p:sp>
        <p:nvSpPr>
          <p:cNvPr id="30" name="Text 24"/>
          <p:cNvSpPr/>
          <p:nvPr/>
        </p:nvSpPr>
        <p:spPr>
          <a:xfrm>
            <a:off x="768096" y="456285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Bulgular</a:t>
            </a:r>
            <a:endParaRPr lang="en-US" sz="1500" dirty="0"/>
          </a:p>
        </p:txBody>
      </p:sp>
      <p:sp>
        <p:nvSpPr>
          <p:cNvPr id="31" name="Text 25"/>
          <p:cNvSpPr/>
          <p:nvPr/>
        </p:nvSpPr>
        <p:spPr>
          <a:xfrm>
            <a:off x="768096" y="487375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Rota performansı ve maliyet karşılaştırması</a:t>
            </a:r>
            <a:endParaRPr lang="en-US" sz="1050" dirty="0"/>
          </a:p>
        </p:txBody>
      </p:sp>
      <p:sp>
        <p:nvSpPr>
          <p:cNvPr id="32" name="Text 26"/>
          <p:cNvSpPr/>
          <p:nvPr/>
        </p:nvSpPr>
        <p:spPr>
          <a:xfrm>
            <a:off x="768096" y="5056632"/>
            <a:ext cx="3108960" cy="256032"/>
          </a:xfrm>
          <a:prstGeom prst="rect">
            <a:avLst/>
          </a:prstGeom>
          <a:noFill/>
          <a:ln/>
        </p:spPr>
        <p:txBody>
          <a:bodyPr wrap="square" lIns="0" tIns="0" rIns="0" bIns="0" rtlCol="0" anchor="ctr"/>
          <a:lstStyle/>
          <a:p>
            <a:pPr marL="0" indent="0" algn="r">
              <a:buNone/>
            </a:pPr>
            <a:endParaRPr lang="en-US" sz="900" dirty="0"/>
          </a:p>
        </p:txBody>
      </p:sp>
      <p:sp>
        <p:nvSpPr>
          <p:cNvPr id="33" name="Shape 27"/>
          <p:cNvSpPr/>
          <p:nvPr/>
        </p:nvSpPr>
        <p:spPr>
          <a:xfrm>
            <a:off x="4325112" y="3886200"/>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4" name="Text 28"/>
          <p:cNvSpPr/>
          <p:nvPr/>
        </p:nvSpPr>
        <p:spPr>
          <a:xfrm>
            <a:off x="4526280" y="403250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05</a:t>
            </a:r>
            <a:endParaRPr lang="en-US" sz="2600" dirty="0"/>
          </a:p>
        </p:txBody>
      </p:sp>
      <p:pic>
        <p:nvPicPr>
          <p:cNvPr id="36" name="Image 4" descr="preencoded.png"/>
          <p:cNvPicPr>
            <a:picLocks noChangeAspect="1"/>
          </p:cNvPicPr>
          <p:nvPr/>
        </p:nvPicPr>
        <p:blipFill>
          <a:blip r:embed="rId7"/>
          <a:stretch>
            <a:fillRect/>
          </a:stretch>
        </p:blipFill>
        <p:spPr>
          <a:xfrm>
            <a:off x="7210958" y="4230014"/>
            <a:ext cx="263347" cy="263347"/>
          </a:xfrm>
          <a:prstGeom prst="rect">
            <a:avLst/>
          </a:prstGeom>
        </p:spPr>
      </p:pic>
      <p:sp>
        <p:nvSpPr>
          <p:cNvPr id="37" name="Text 30"/>
          <p:cNvSpPr/>
          <p:nvPr/>
        </p:nvSpPr>
        <p:spPr>
          <a:xfrm>
            <a:off x="4544568" y="456285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Kısıtlar ve SKH</a:t>
            </a:r>
            <a:endParaRPr lang="en-US" sz="1500" dirty="0"/>
          </a:p>
        </p:txBody>
      </p:sp>
      <p:sp>
        <p:nvSpPr>
          <p:cNvPr id="38" name="Text 31"/>
          <p:cNvSpPr/>
          <p:nvPr/>
        </p:nvSpPr>
        <p:spPr>
          <a:xfrm>
            <a:off x="4544568" y="487375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Gerçekçi kısıtlar, sürdürülebilirlik katkısı</a:t>
            </a:r>
            <a:endParaRPr lang="en-US" sz="1050" dirty="0"/>
          </a:p>
        </p:txBody>
      </p:sp>
      <p:sp>
        <p:nvSpPr>
          <p:cNvPr id="39" name="Text 32"/>
          <p:cNvSpPr/>
          <p:nvPr/>
        </p:nvSpPr>
        <p:spPr>
          <a:xfrm>
            <a:off x="4544568" y="5056632"/>
            <a:ext cx="3108960" cy="256032"/>
          </a:xfrm>
          <a:prstGeom prst="rect">
            <a:avLst/>
          </a:prstGeom>
          <a:noFill/>
          <a:ln/>
        </p:spPr>
        <p:txBody>
          <a:bodyPr wrap="square" lIns="0" tIns="0" rIns="0" bIns="0" rtlCol="0" anchor="ctr"/>
          <a:lstStyle/>
          <a:p>
            <a:pPr marL="0" indent="0" algn="r">
              <a:buNone/>
            </a:pPr>
            <a:endParaRPr lang="en-US" sz="900" dirty="0"/>
          </a:p>
        </p:txBody>
      </p:sp>
      <p:sp>
        <p:nvSpPr>
          <p:cNvPr id="40" name="Shape 33"/>
          <p:cNvSpPr/>
          <p:nvPr/>
        </p:nvSpPr>
        <p:spPr>
          <a:xfrm>
            <a:off x="8101584" y="3886200"/>
            <a:ext cx="3520440" cy="1481328"/>
          </a:xfrm>
          <a:prstGeom prst="roundRect">
            <a:avLst>
              <a:gd name="adj" fmla="val 4938"/>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41" name="Text 34"/>
          <p:cNvSpPr/>
          <p:nvPr/>
        </p:nvSpPr>
        <p:spPr>
          <a:xfrm>
            <a:off x="8302752" y="4032504"/>
            <a:ext cx="914400" cy="502920"/>
          </a:xfrm>
          <a:prstGeom prst="rect">
            <a:avLst/>
          </a:prstGeom>
          <a:noFill/>
          <a:ln/>
        </p:spPr>
        <p:txBody>
          <a:bodyPr wrap="square" lIns="0" tIns="0" rIns="0" bIns="0" rtlCol="0" anchor="ctr"/>
          <a:lstStyle/>
          <a:p>
            <a:pPr marL="0" indent="0">
              <a:buNone/>
            </a:pPr>
            <a:r>
              <a:rPr lang="en-US" sz="2600" b="1" dirty="0">
                <a:solidFill>
                  <a:srgbClr val="A26769"/>
                </a:solidFill>
                <a:latin typeface="Cambria" pitchFamily="34" charset="0"/>
                <a:ea typeface="Cambria" pitchFamily="34" charset="-122"/>
                <a:cs typeface="Cambria" pitchFamily="34" charset="-120"/>
              </a:rPr>
              <a:t>06</a:t>
            </a:r>
            <a:endParaRPr lang="en-US" sz="2600" dirty="0"/>
          </a:p>
        </p:txBody>
      </p:sp>
      <p:pic>
        <p:nvPicPr>
          <p:cNvPr id="43" name="Image 5" descr="preencoded.png"/>
          <p:cNvPicPr>
            <a:picLocks noChangeAspect="1"/>
          </p:cNvPicPr>
          <p:nvPr/>
        </p:nvPicPr>
        <p:blipFill>
          <a:blip r:embed="rId8"/>
          <a:stretch>
            <a:fillRect/>
          </a:stretch>
        </p:blipFill>
        <p:spPr>
          <a:xfrm>
            <a:off x="10987430" y="4230014"/>
            <a:ext cx="263347" cy="263347"/>
          </a:xfrm>
          <a:prstGeom prst="rect">
            <a:avLst/>
          </a:prstGeom>
        </p:spPr>
      </p:pic>
      <p:sp>
        <p:nvSpPr>
          <p:cNvPr id="44" name="Text 36"/>
          <p:cNvSpPr/>
          <p:nvPr/>
        </p:nvSpPr>
        <p:spPr>
          <a:xfrm>
            <a:off x="8321040" y="4562856"/>
            <a:ext cx="3108960" cy="36576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Sonuç</a:t>
            </a:r>
            <a:endParaRPr lang="en-US" sz="1500" dirty="0"/>
          </a:p>
        </p:txBody>
      </p:sp>
      <p:sp>
        <p:nvSpPr>
          <p:cNvPr id="45" name="Text 37"/>
          <p:cNvSpPr/>
          <p:nvPr/>
        </p:nvSpPr>
        <p:spPr>
          <a:xfrm>
            <a:off x="8321040" y="4873752"/>
            <a:ext cx="310896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Çıkarımlar ve gelecek çalışmalar</a:t>
            </a:r>
            <a:endParaRPr lang="en-US" sz="1050" dirty="0"/>
          </a:p>
        </p:txBody>
      </p:sp>
      <p:sp>
        <p:nvSpPr>
          <p:cNvPr id="46" name="Text 38"/>
          <p:cNvSpPr/>
          <p:nvPr/>
        </p:nvSpPr>
        <p:spPr>
          <a:xfrm>
            <a:off x="8321040" y="5056632"/>
            <a:ext cx="3108960" cy="256032"/>
          </a:xfrm>
          <a:prstGeom prst="rect">
            <a:avLst/>
          </a:prstGeom>
          <a:noFill/>
          <a:ln/>
        </p:spPr>
        <p:txBody>
          <a:bodyPr wrap="square" lIns="0" tIns="0" rIns="0" bIns="0" rtlCol="0" anchor="ctr"/>
          <a:lstStyle/>
          <a:p>
            <a:pPr marL="0" indent="0" algn="r">
              <a:buNone/>
            </a:pPr>
            <a:endParaRPr lang="en-US" sz="900" dirty="0"/>
          </a:p>
        </p:txBody>
      </p:sp>
      <p:sp>
        <p:nvSpPr>
          <p:cNvPr id="47" name="Text 39"/>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01</a:t>
            </a:r>
            <a:endParaRPr lang="en-US" sz="1000" dirty="0"/>
          </a:p>
        </p:txBody>
      </p:sp>
      <p:sp>
        <p:nvSpPr>
          <p:cNvPr id="48" name="Text 40"/>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PROBLEM</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İki Yapı Arasında Sıkışan Dağıtım Ağı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Outsource ve in-house arasındaki temel stratejik ikilem</a:t>
            </a:r>
            <a:endParaRPr lang="en-US" sz="1400" dirty="0"/>
          </a:p>
        </p:txBody>
      </p:sp>
      <p:sp>
        <p:nvSpPr>
          <p:cNvPr id="6" name="Shape 4"/>
          <p:cNvSpPr/>
          <p:nvPr/>
        </p:nvSpPr>
        <p:spPr>
          <a:xfrm>
            <a:off x="548640" y="2240280"/>
            <a:ext cx="5257800" cy="2240280"/>
          </a:xfrm>
          <a:prstGeom prst="roundRect">
            <a:avLst>
              <a:gd name="adj" fmla="val 3673"/>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7" name="Shape 5"/>
          <p:cNvSpPr/>
          <p:nvPr/>
        </p:nvSpPr>
        <p:spPr>
          <a:xfrm>
            <a:off x="868680" y="2560320"/>
            <a:ext cx="777240" cy="777240"/>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1070762" y="2762402"/>
            <a:ext cx="373075" cy="373075"/>
          </a:xfrm>
          <a:prstGeom prst="rect">
            <a:avLst/>
          </a:prstGeom>
        </p:spPr>
      </p:pic>
      <p:sp>
        <p:nvSpPr>
          <p:cNvPr id="9" name="Text 6"/>
          <p:cNvSpPr/>
          <p:nvPr/>
        </p:nvSpPr>
        <p:spPr>
          <a:xfrm>
            <a:off x="1828800" y="2624328"/>
            <a:ext cx="3840480" cy="411480"/>
          </a:xfrm>
          <a:prstGeom prst="rect">
            <a:avLst/>
          </a:prstGeom>
          <a:noFill/>
          <a:ln/>
        </p:spPr>
        <p:txBody>
          <a:bodyPr wrap="square" lIns="0" tIns="0" rIns="0" bIns="0" rtlCol="0" anchor="ctr"/>
          <a:lstStyle/>
          <a:p>
            <a:pPr marL="0" indent="0">
              <a:buNone/>
            </a:pPr>
            <a:r>
              <a:rPr lang="en-US" sz="1700" b="1" dirty="0">
                <a:solidFill>
                  <a:srgbClr val="6D2E46"/>
                </a:solidFill>
                <a:latin typeface="Calibri" pitchFamily="34" charset="0"/>
                <a:ea typeface="Calibri" pitchFamily="34" charset="-122"/>
                <a:cs typeface="Calibri" pitchFamily="34" charset="-120"/>
              </a:rPr>
              <a:t>OUTSOURCE (3PL) YAPISI</a:t>
            </a:r>
            <a:endParaRPr lang="en-US" sz="1700" dirty="0"/>
          </a:p>
        </p:txBody>
      </p:sp>
      <p:sp>
        <p:nvSpPr>
          <p:cNvPr id="10" name="Text 7"/>
          <p:cNvSpPr/>
          <p:nvPr/>
        </p:nvSpPr>
        <p:spPr>
          <a:xfrm>
            <a:off x="1828800" y="2990088"/>
            <a:ext cx="3840480" cy="320040"/>
          </a:xfrm>
          <a:prstGeom prst="rect">
            <a:avLst/>
          </a:prstGeom>
          <a:noFill/>
          <a:ln/>
        </p:spPr>
        <p:txBody>
          <a:bodyPr wrap="square" lIns="0" tIns="0" rIns="0" bIns="0" rtlCol="0" anchor="ctr"/>
          <a:lstStyle/>
          <a:p>
            <a:pPr marL="0" indent="0">
              <a:buNone/>
            </a:pPr>
            <a:r>
              <a:rPr lang="en-US" sz="1200" i="1" dirty="0">
                <a:solidFill>
                  <a:srgbClr val="7A6B6F"/>
                </a:solidFill>
                <a:latin typeface="Calibri" pitchFamily="34" charset="0"/>
                <a:ea typeface="Calibri" pitchFamily="34" charset="-122"/>
                <a:cs typeface="Calibri" pitchFamily="34" charset="-120"/>
              </a:rPr>
              <a:t>Dış kaynaklı transfer merkezi modeli</a:t>
            </a:r>
            <a:endParaRPr lang="en-US" sz="1200" dirty="0"/>
          </a:p>
        </p:txBody>
      </p:sp>
      <p:sp>
        <p:nvSpPr>
          <p:cNvPr id="11" name="Text 8"/>
          <p:cNvSpPr/>
          <p:nvPr/>
        </p:nvSpPr>
        <p:spPr>
          <a:xfrm>
            <a:off x="914400" y="3474720"/>
            <a:ext cx="4709160" cy="914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Çoklu elleçleme ve uzayan teslimat süresi</a:t>
            </a:r>
            <a:endParaRPr lang="en-US" sz="1200" dirty="0"/>
          </a:p>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Sınırlı operasyonel kontrol</a:t>
            </a:r>
            <a:endParaRPr lang="en-US" sz="1200" dirty="0"/>
          </a:p>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Hasar / kayıp riski</a:t>
            </a:r>
            <a:endParaRPr lang="en-US" sz="1200" dirty="0"/>
          </a:p>
        </p:txBody>
      </p:sp>
      <p:sp>
        <p:nvSpPr>
          <p:cNvPr id="12" name="Shape 9"/>
          <p:cNvSpPr/>
          <p:nvPr/>
        </p:nvSpPr>
        <p:spPr>
          <a:xfrm>
            <a:off x="6355080" y="2240280"/>
            <a:ext cx="5257800" cy="2240280"/>
          </a:xfrm>
          <a:prstGeom prst="roundRect">
            <a:avLst>
              <a:gd name="adj" fmla="val 3673"/>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13" name="Shape 10"/>
          <p:cNvSpPr/>
          <p:nvPr/>
        </p:nvSpPr>
        <p:spPr>
          <a:xfrm>
            <a:off x="6675120" y="2560320"/>
            <a:ext cx="777240" cy="7772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4" name="Image 1" descr="preencoded.png"/>
          <p:cNvPicPr>
            <a:picLocks noChangeAspect="1"/>
          </p:cNvPicPr>
          <p:nvPr/>
        </p:nvPicPr>
        <p:blipFill>
          <a:blip r:embed="rId4"/>
          <a:stretch>
            <a:fillRect/>
          </a:stretch>
        </p:blipFill>
        <p:spPr>
          <a:xfrm>
            <a:off x="6877202" y="2762402"/>
            <a:ext cx="373075" cy="373075"/>
          </a:xfrm>
          <a:prstGeom prst="rect">
            <a:avLst/>
          </a:prstGeom>
        </p:spPr>
      </p:pic>
      <p:sp>
        <p:nvSpPr>
          <p:cNvPr id="15" name="Text 11"/>
          <p:cNvSpPr/>
          <p:nvPr/>
        </p:nvSpPr>
        <p:spPr>
          <a:xfrm>
            <a:off x="7635240" y="2624328"/>
            <a:ext cx="3840480" cy="411480"/>
          </a:xfrm>
          <a:prstGeom prst="rect">
            <a:avLst/>
          </a:prstGeom>
          <a:noFill/>
          <a:ln/>
        </p:spPr>
        <p:txBody>
          <a:bodyPr wrap="square" lIns="0" tIns="0" rIns="0" bIns="0" rtlCol="0" anchor="ctr"/>
          <a:lstStyle/>
          <a:p>
            <a:pPr marL="0" indent="0">
              <a:buNone/>
            </a:pPr>
            <a:r>
              <a:rPr lang="en-US" sz="1700" b="1" dirty="0">
                <a:solidFill>
                  <a:srgbClr val="A26769"/>
                </a:solidFill>
                <a:latin typeface="Calibri" pitchFamily="34" charset="0"/>
                <a:ea typeface="Calibri" pitchFamily="34" charset="-122"/>
                <a:cs typeface="Calibri" pitchFamily="34" charset="-120"/>
              </a:rPr>
              <a:t>IN-HOUSE YATIRIMI</a:t>
            </a:r>
            <a:endParaRPr lang="en-US" sz="1700" dirty="0"/>
          </a:p>
        </p:txBody>
      </p:sp>
      <p:sp>
        <p:nvSpPr>
          <p:cNvPr id="16" name="Text 12"/>
          <p:cNvSpPr/>
          <p:nvPr/>
        </p:nvSpPr>
        <p:spPr>
          <a:xfrm>
            <a:off x="7635240" y="2990088"/>
            <a:ext cx="3840480" cy="320040"/>
          </a:xfrm>
          <a:prstGeom prst="rect">
            <a:avLst/>
          </a:prstGeom>
          <a:noFill/>
          <a:ln/>
        </p:spPr>
        <p:txBody>
          <a:bodyPr wrap="square" lIns="0" tIns="0" rIns="0" bIns="0" rtlCol="0" anchor="ctr"/>
          <a:lstStyle/>
          <a:p>
            <a:pPr marL="0" indent="0">
              <a:buNone/>
            </a:pPr>
            <a:r>
              <a:rPr lang="en-US" sz="1200" i="1" dirty="0">
                <a:solidFill>
                  <a:srgbClr val="7A6B6F"/>
                </a:solidFill>
                <a:latin typeface="Calibri" pitchFamily="34" charset="0"/>
                <a:ea typeface="Calibri" pitchFamily="34" charset="-122"/>
                <a:cs typeface="Calibri" pitchFamily="34" charset="-120"/>
              </a:rPr>
              <a:t>Şirket kontrollü filo modeli</a:t>
            </a:r>
            <a:endParaRPr lang="en-US" sz="1200" dirty="0"/>
          </a:p>
        </p:txBody>
      </p:sp>
      <p:sp>
        <p:nvSpPr>
          <p:cNvPr id="17" name="Text 13"/>
          <p:cNvSpPr/>
          <p:nvPr/>
        </p:nvSpPr>
        <p:spPr>
          <a:xfrm>
            <a:off x="6720840" y="3474720"/>
            <a:ext cx="4709160" cy="914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Yüksek ilk yatırım (5.000.000 TL/araç)</a:t>
            </a:r>
            <a:endParaRPr lang="en-US" sz="1200" dirty="0"/>
          </a:p>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Sabit maliyet yükü (araç + sürücü)</a:t>
            </a:r>
            <a:endParaRPr lang="en-US" sz="1200" dirty="0"/>
          </a:p>
          <a:p>
            <a:pPr marL="342900" indent="-342900">
              <a:spcAft>
                <a:spcPts val="600"/>
              </a:spcAft>
              <a:buSzPct val="100000"/>
              <a:buChar char="•"/>
            </a:pPr>
            <a:r>
              <a:rPr lang="en-US" sz="1200" dirty="0">
                <a:solidFill>
                  <a:srgbClr val="2B2024"/>
                </a:solidFill>
                <a:latin typeface="Calibri" pitchFamily="34" charset="0"/>
                <a:ea typeface="Calibri" pitchFamily="34" charset="-122"/>
                <a:cs typeface="Calibri" pitchFamily="34" charset="-120"/>
              </a:rPr>
              <a:t>Boş dönüş / düşük doluluk riski</a:t>
            </a:r>
            <a:endParaRPr lang="en-US" sz="1200" dirty="0"/>
          </a:p>
        </p:txBody>
      </p:sp>
      <p:sp>
        <p:nvSpPr>
          <p:cNvPr id="18" name="Shape 14"/>
          <p:cNvSpPr/>
          <p:nvPr/>
        </p:nvSpPr>
        <p:spPr>
          <a:xfrm>
            <a:off x="548640" y="4800600"/>
            <a:ext cx="11064240" cy="1325880"/>
          </a:xfrm>
          <a:prstGeom prst="roundRect">
            <a:avLst>
              <a:gd name="adj" fmla="val 6207"/>
            </a:avLst>
          </a:prstGeom>
          <a:solidFill>
            <a:srgbClr val="6D2E46"/>
          </a:solidFill>
          <a:ln/>
        </p:spPr>
        <p:txBody>
          <a:bodyPr/>
          <a:lstStyle/>
          <a:p>
            <a:endParaRPr lang="tr-TR"/>
          </a:p>
        </p:txBody>
      </p:sp>
      <p:sp>
        <p:nvSpPr>
          <p:cNvPr id="19" name="Text 15"/>
          <p:cNvSpPr/>
          <p:nvPr/>
        </p:nvSpPr>
        <p:spPr>
          <a:xfrm>
            <a:off x="822960" y="4892040"/>
            <a:ext cx="1280160" cy="1143000"/>
          </a:xfrm>
          <a:prstGeom prst="rect">
            <a:avLst/>
          </a:prstGeom>
          <a:noFill/>
          <a:ln/>
        </p:spPr>
        <p:txBody>
          <a:bodyPr wrap="square" lIns="0" tIns="0" rIns="0" bIns="0" rtlCol="0" anchor="ctr"/>
          <a:lstStyle/>
          <a:p>
            <a:pPr marL="0" indent="0" algn="ctr">
              <a:buNone/>
            </a:pPr>
            <a:r>
              <a:rPr lang="en-US" sz="2400" b="1" dirty="0">
                <a:solidFill>
                  <a:srgbClr val="C8902B"/>
                </a:solidFill>
                <a:latin typeface="Cambria" pitchFamily="34" charset="0"/>
                <a:ea typeface="Cambria" pitchFamily="34" charset="-122"/>
                <a:cs typeface="Cambria" pitchFamily="34" charset="-120"/>
              </a:rPr>
              <a:t>%30–60</a:t>
            </a:r>
            <a:endParaRPr lang="en-US" sz="4600" dirty="0"/>
          </a:p>
        </p:txBody>
      </p:sp>
      <p:sp>
        <p:nvSpPr>
          <p:cNvPr id="20" name="Text 16"/>
          <p:cNvSpPr/>
          <p:nvPr/>
        </p:nvSpPr>
        <p:spPr>
          <a:xfrm>
            <a:off x="2286000" y="4892040"/>
            <a:ext cx="9144000" cy="1143000"/>
          </a:xfrm>
          <a:prstGeom prst="rect">
            <a:avLst/>
          </a:prstGeom>
          <a:noFill/>
          <a:ln/>
        </p:spPr>
        <p:txBody>
          <a:bodyPr wrap="square" lIns="0" tIns="0" rIns="0" bIns="0" rtlCol="0" anchor="ctr"/>
          <a:lstStyle/>
          <a:p>
            <a:pPr marL="0" indent="0">
              <a:spcAft>
                <a:spcPts val="600"/>
              </a:spcAft>
              <a:buNone/>
            </a:pPr>
            <a:r>
              <a:rPr lang="en-US" sz="1600" b="1" dirty="0">
                <a:solidFill>
                  <a:srgbClr val="FFFFFF"/>
                </a:solidFill>
                <a:latin typeface="Calibri" pitchFamily="34" charset="0"/>
                <a:ea typeface="Calibri" pitchFamily="34" charset="-122"/>
                <a:cs typeface="Calibri" pitchFamily="34" charset="-120"/>
              </a:rPr>
              <a:t>Taşıma maliyetlerinin toplam lojistik maliyetleri içindeki payı bu aralıkta değişebiliyor.</a:t>
            </a:r>
            <a:endParaRPr lang="en-US" sz="1600" dirty="0"/>
          </a:p>
          <a:p>
            <a:pPr marL="0" indent="0">
              <a:spcAft>
                <a:spcPts val="600"/>
              </a:spcAft>
              <a:buNone/>
            </a:pPr>
            <a:r>
              <a:rPr lang="en-US" sz="1250" dirty="0">
                <a:solidFill>
                  <a:srgbClr val="F4ECE2"/>
                </a:solidFill>
                <a:latin typeface="Calibri" pitchFamily="34" charset="0"/>
                <a:ea typeface="Calibri" pitchFamily="34" charset="-122"/>
                <a:cs typeface="Calibri" pitchFamily="34" charset="-120"/>
              </a:rPr>
              <a:t>Bu oran, dağıtım sürecinin ne denli dikkatle yönetilmesi gerektiğini gösteriyor.   (Chopra &amp; Meindl, 2016)</a:t>
            </a:r>
            <a:endParaRPr lang="en-US" sz="1600" dirty="0"/>
          </a:p>
        </p:txBody>
      </p:sp>
      <p:sp>
        <p:nvSpPr>
          <p:cNvPr id="21" name="Text 17"/>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02</a:t>
            </a:r>
            <a:endParaRPr lang="en-US" sz="1000" dirty="0"/>
          </a:p>
        </p:txBody>
      </p:sp>
      <p:sp>
        <p:nvSpPr>
          <p:cNvPr id="22" name="Text 18"/>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ÖNEM &amp; BOŞLUK</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Hazır Giyim Perakendesi Neden Farklı?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Diğer sektörlerden farkı ve literatürdeki boşluk</a:t>
            </a:r>
            <a:endParaRPr lang="en-US" sz="1400" dirty="0"/>
          </a:p>
        </p:txBody>
      </p:sp>
      <p:sp>
        <p:nvSpPr>
          <p:cNvPr id="6" name="Text 4"/>
          <p:cNvSpPr/>
          <p:nvPr/>
        </p:nvSpPr>
        <p:spPr>
          <a:xfrm>
            <a:off x="548640" y="2240280"/>
            <a:ext cx="5486400" cy="365760"/>
          </a:xfrm>
          <a:prstGeom prst="rect">
            <a:avLst/>
          </a:prstGeom>
          <a:noFill/>
          <a:ln/>
        </p:spPr>
        <p:txBody>
          <a:bodyPr wrap="square" lIns="0" tIns="0" rIns="0" bIns="0"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Çok sayıda, coğrafi olarak dağınık mağazayla çalışan büyük ölçekli zincir</a:t>
            </a:r>
            <a:endParaRPr lang="en-US" sz="1300" dirty="0"/>
          </a:p>
        </p:txBody>
      </p:sp>
      <p:sp>
        <p:nvSpPr>
          <p:cNvPr id="7" name="Shape 5"/>
          <p:cNvSpPr/>
          <p:nvPr/>
        </p:nvSpPr>
        <p:spPr>
          <a:xfrm>
            <a:off x="548640" y="2743200"/>
            <a:ext cx="5486400" cy="932688"/>
          </a:xfrm>
          <a:prstGeom prst="roundRect">
            <a:avLst>
              <a:gd name="adj" fmla="val 686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8" name="Shape 6"/>
          <p:cNvSpPr/>
          <p:nvPr/>
        </p:nvSpPr>
        <p:spPr>
          <a:xfrm>
            <a:off x="749808" y="2944368"/>
            <a:ext cx="530352" cy="530352"/>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9" name="Image 0" descr="preencoded.png"/>
          <p:cNvPicPr>
            <a:picLocks noChangeAspect="1"/>
          </p:cNvPicPr>
          <p:nvPr/>
        </p:nvPicPr>
        <p:blipFill>
          <a:blip r:embed="rId3"/>
          <a:stretch>
            <a:fillRect/>
          </a:stretch>
        </p:blipFill>
        <p:spPr>
          <a:xfrm>
            <a:off x="887700" y="3082260"/>
            <a:ext cx="254569" cy="254569"/>
          </a:xfrm>
          <a:prstGeom prst="rect">
            <a:avLst/>
          </a:prstGeom>
        </p:spPr>
      </p:pic>
      <p:sp>
        <p:nvSpPr>
          <p:cNvPr id="10" name="Text 7"/>
          <p:cNvSpPr/>
          <p:nvPr/>
        </p:nvSpPr>
        <p:spPr>
          <a:xfrm>
            <a:off x="1463040" y="2871216"/>
            <a:ext cx="4434840" cy="365760"/>
          </a:xfrm>
          <a:prstGeom prst="rect">
            <a:avLst/>
          </a:prstGeom>
          <a:noFill/>
          <a:ln/>
        </p:spPr>
        <p:txBody>
          <a:bodyPr wrap="square" lIns="0" tIns="0" rIns="0" bIns="0" rtlCol="0" anchor="ctr"/>
          <a:lstStyle/>
          <a:p>
            <a:pPr marL="0" indent="0">
              <a:buNone/>
            </a:pPr>
            <a:r>
              <a:rPr lang="en-US" sz="1350" b="1" dirty="0">
                <a:solidFill>
                  <a:srgbClr val="2B2024"/>
                </a:solidFill>
                <a:latin typeface="Calibri" pitchFamily="34" charset="0"/>
                <a:ea typeface="Calibri" pitchFamily="34" charset="-122"/>
                <a:cs typeface="Calibri" pitchFamily="34" charset="-120"/>
              </a:rPr>
              <a:t>Çok sayıda, dağınık mağaza</a:t>
            </a:r>
            <a:endParaRPr lang="en-US" sz="1350" dirty="0"/>
          </a:p>
        </p:txBody>
      </p:sp>
      <p:sp>
        <p:nvSpPr>
          <p:cNvPr id="11" name="Text 8"/>
          <p:cNvSpPr/>
          <p:nvPr/>
        </p:nvSpPr>
        <p:spPr>
          <a:xfrm>
            <a:off x="1463040" y="3218688"/>
            <a:ext cx="443484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Onlarca/yüzlerce mağaza farklı bölgelerde; standart plan yetersiz kalıyor</a:t>
            </a:r>
            <a:endParaRPr lang="en-US" sz="1050" dirty="0"/>
          </a:p>
        </p:txBody>
      </p:sp>
      <p:sp>
        <p:nvSpPr>
          <p:cNvPr id="12" name="Shape 9"/>
          <p:cNvSpPr/>
          <p:nvPr/>
        </p:nvSpPr>
        <p:spPr>
          <a:xfrm>
            <a:off x="548640" y="3822192"/>
            <a:ext cx="5486400" cy="932688"/>
          </a:xfrm>
          <a:prstGeom prst="roundRect">
            <a:avLst>
              <a:gd name="adj" fmla="val 686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3" name="Shape 10"/>
          <p:cNvSpPr/>
          <p:nvPr/>
        </p:nvSpPr>
        <p:spPr>
          <a:xfrm>
            <a:off x="749808" y="4023360"/>
            <a:ext cx="530352" cy="530352"/>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4" name="Image 1" descr="preencoded.png"/>
          <p:cNvPicPr>
            <a:picLocks noChangeAspect="1"/>
          </p:cNvPicPr>
          <p:nvPr/>
        </p:nvPicPr>
        <p:blipFill>
          <a:blip r:embed="rId4"/>
          <a:stretch>
            <a:fillRect/>
          </a:stretch>
        </p:blipFill>
        <p:spPr>
          <a:xfrm>
            <a:off x="887700" y="4161252"/>
            <a:ext cx="254569" cy="254569"/>
          </a:xfrm>
          <a:prstGeom prst="rect">
            <a:avLst/>
          </a:prstGeom>
        </p:spPr>
      </p:pic>
      <p:sp>
        <p:nvSpPr>
          <p:cNvPr id="15" name="Text 11"/>
          <p:cNvSpPr/>
          <p:nvPr/>
        </p:nvSpPr>
        <p:spPr>
          <a:xfrm>
            <a:off x="1463040" y="3950208"/>
            <a:ext cx="4434840" cy="365760"/>
          </a:xfrm>
          <a:prstGeom prst="rect">
            <a:avLst/>
          </a:prstGeom>
          <a:noFill/>
          <a:ln/>
        </p:spPr>
        <p:txBody>
          <a:bodyPr wrap="square" lIns="0" tIns="0" rIns="0" bIns="0" rtlCol="0" anchor="ctr"/>
          <a:lstStyle/>
          <a:p>
            <a:pPr marL="0" indent="0">
              <a:buNone/>
            </a:pPr>
            <a:r>
              <a:rPr lang="en-US" sz="1350" b="1" dirty="0">
                <a:solidFill>
                  <a:srgbClr val="2B2024"/>
                </a:solidFill>
                <a:latin typeface="Calibri" pitchFamily="34" charset="0"/>
                <a:ea typeface="Calibri" pitchFamily="34" charset="-122"/>
                <a:cs typeface="Calibri" pitchFamily="34" charset="-120"/>
              </a:rPr>
              <a:t>Sık, küçük hacimli sipariş</a:t>
            </a:r>
            <a:endParaRPr lang="en-US" sz="1350" dirty="0"/>
          </a:p>
        </p:txBody>
      </p:sp>
      <p:sp>
        <p:nvSpPr>
          <p:cNvPr id="16" name="Text 12"/>
          <p:cNvSpPr/>
          <p:nvPr/>
        </p:nvSpPr>
        <p:spPr>
          <a:xfrm>
            <a:off x="1463040" y="4297680"/>
            <a:ext cx="443484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Araç kapasitesinin verimli kullanılmasını güçleştiriyor</a:t>
            </a:r>
            <a:endParaRPr lang="en-US" sz="1050" dirty="0"/>
          </a:p>
        </p:txBody>
      </p:sp>
      <p:sp>
        <p:nvSpPr>
          <p:cNvPr id="17" name="Shape 13"/>
          <p:cNvSpPr/>
          <p:nvPr/>
        </p:nvSpPr>
        <p:spPr>
          <a:xfrm>
            <a:off x="548640" y="4901184"/>
            <a:ext cx="5486400" cy="932688"/>
          </a:xfrm>
          <a:prstGeom prst="roundRect">
            <a:avLst>
              <a:gd name="adj" fmla="val 686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8" name="Shape 14"/>
          <p:cNvSpPr/>
          <p:nvPr/>
        </p:nvSpPr>
        <p:spPr>
          <a:xfrm>
            <a:off x="749808" y="5102352"/>
            <a:ext cx="530352" cy="530352"/>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9" name="Image 2" descr="preencoded.png"/>
          <p:cNvPicPr>
            <a:picLocks noChangeAspect="1"/>
          </p:cNvPicPr>
          <p:nvPr/>
        </p:nvPicPr>
        <p:blipFill>
          <a:blip r:embed="rId5"/>
          <a:stretch>
            <a:fillRect/>
          </a:stretch>
        </p:blipFill>
        <p:spPr>
          <a:xfrm>
            <a:off x="887700" y="5240244"/>
            <a:ext cx="254569" cy="254569"/>
          </a:xfrm>
          <a:prstGeom prst="rect">
            <a:avLst/>
          </a:prstGeom>
        </p:spPr>
      </p:pic>
      <p:sp>
        <p:nvSpPr>
          <p:cNvPr id="20" name="Text 15"/>
          <p:cNvSpPr/>
          <p:nvPr/>
        </p:nvSpPr>
        <p:spPr>
          <a:xfrm>
            <a:off x="1463040" y="5029200"/>
            <a:ext cx="4434840" cy="365760"/>
          </a:xfrm>
          <a:prstGeom prst="rect">
            <a:avLst/>
          </a:prstGeom>
          <a:noFill/>
          <a:ln/>
        </p:spPr>
        <p:txBody>
          <a:bodyPr wrap="square" lIns="0" tIns="0" rIns="0" bIns="0" rtlCol="0" anchor="ctr"/>
          <a:lstStyle/>
          <a:p>
            <a:pPr marL="0" indent="0">
              <a:buNone/>
            </a:pPr>
            <a:r>
              <a:rPr lang="en-US" sz="1350" b="1" dirty="0">
                <a:solidFill>
                  <a:srgbClr val="2B2024"/>
                </a:solidFill>
                <a:latin typeface="Calibri" pitchFamily="34" charset="0"/>
                <a:ea typeface="Calibri" pitchFamily="34" charset="-122"/>
                <a:cs typeface="Calibri" pitchFamily="34" charset="-120"/>
              </a:rPr>
              <a:t>Sezonluk talep dalgalanması</a:t>
            </a:r>
            <a:endParaRPr lang="en-US" sz="1350" dirty="0"/>
          </a:p>
        </p:txBody>
      </p:sp>
      <p:sp>
        <p:nvSpPr>
          <p:cNvPr id="21" name="Text 16"/>
          <p:cNvSpPr/>
          <p:nvPr/>
        </p:nvSpPr>
        <p:spPr>
          <a:xfrm>
            <a:off x="1463040" y="5376672"/>
            <a:ext cx="4434840" cy="384048"/>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İlkbahar-yaz / sonbahar-kış geçişleri rota ve stok planlamasını etkiliyor</a:t>
            </a:r>
            <a:endParaRPr lang="en-US" sz="1050" dirty="0"/>
          </a:p>
        </p:txBody>
      </p:sp>
      <p:sp>
        <p:nvSpPr>
          <p:cNvPr id="22" name="Shape 17"/>
          <p:cNvSpPr/>
          <p:nvPr/>
        </p:nvSpPr>
        <p:spPr>
          <a:xfrm>
            <a:off x="6355080" y="2240280"/>
            <a:ext cx="5257800" cy="3749040"/>
          </a:xfrm>
          <a:prstGeom prst="roundRect">
            <a:avLst>
              <a:gd name="adj" fmla="val 2195"/>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23" name="Shape 18"/>
          <p:cNvSpPr/>
          <p:nvPr/>
        </p:nvSpPr>
        <p:spPr>
          <a:xfrm>
            <a:off x="6629400" y="2514600"/>
            <a:ext cx="640080" cy="640080"/>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24" name="Image 3" descr="preencoded.png"/>
          <p:cNvPicPr>
            <a:picLocks noChangeAspect="1"/>
          </p:cNvPicPr>
          <p:nvPr/>
        </p:nvPicPr>
        <p:blipFill>
          <a:blip r:embed="rId6"/>
          <a:stretch>
            <a:fillRect/>
          </a:stretch>
        </p:blipFill>
        <p:spPr>
          <a:xfrm>
            <a:off x="6795821" y="2681021"/>
            <a:ext cx="307238" cy="307238"/>
          </a:xfrm>
          <a:prstGeom prst="rect">
            <a:avLst/>
          </a:prstGeom>
        </p:spPr>
      </p:pic>
      <p:sp>
        <p:nvSpPr>
          <p:cNvPr id="25" name="Text 19"/>
          <p:cNvSpPr/>
          <p:nvPr/>
        </p:nvSpPr>
        <p:spPr>
          <a:xfrm>
            <a:off x="7452360" y="2578608"/>
            <a:ext cx="384048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LİTERATÜRDEKİ BOŞLUK</a:t>
            </a:r>
            <a:endParaRPr lang="en-US" sz="1500" dirty="0"/>
          </a:p>
        </p:txBody>
      </p:sp>
      <p:sp>
        <p:nvSpPr>
          <p:cNvPr id="26" name="Text 20"/>
          <p:cNvSpPr/>
          <p:nvPr/>
        </p:nvSpPr>
        <p:spPr>
          <a:xfrm>
            <a:off x="6629400" y="3337560"/>
            <a:ext cx="4754880" cy="2468880"/>
          </a:xfrm>
          <a:prstGeom prst="rect">
            <a:avLst/>
          </a:prstGeom>
          <a:noFill/>
          <a:ln/>
        </p:spPr>
        <p:txBody>
          <a:bodyPr wrap="square" lIns="0" tIns="0" rIns="0" bIns="0" rtlCol="0" anchor="ctr"/>
          <a:lstStyle/>
          <a:p>
            <a:pPr marL="0" indent="0">
              <a:lnSpc>
                <a:spcPct val="110000"/>
              </a:lnSpc>
              <a:buNone/>
            </a:pPr>
            <a:r>
              <a:rPr lang="en-US" sz="1350" dirty="0">
                <a:solidFill>
                  <a:srgbClr val="F4ECE2"/>
                </a:solidFill>
                <a:latin typeface="Calibri" pitchFamily="34" charset="0"/>
                <a:ea typeface="Calibri" pitchFamily="34" charset="-122"/>
                <a:cs typeface="Calibri" pitchFamily="34" charset="-120"/>
              </a:rPr>
              <a:t>VRP çalışmaları büyük ölçüde imalat, e-ticaret ve gıda dağıtımına odaklı.</a:t>
            </a:r>
            <a:endParaRPr lang="en-US" sz="1350" dirty="0"/>
          </a:p>
          <a:p>
            <a:pPr marL="0" indent="0">
              <a:lnSpc>
                <a:spcPct val="110000"/>
              </a:lnSpc>
              <a:buNone/>
            </a:pPr>
            <a:endParaRPr lang="en-US" sz="1350" dirty="0"/>
          </a:p>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Hazır giyim perakendesine özgü dağıtım optimizasyonu çalışmaları </a:t>
            </a:r>
            <a:r>
              <a:rPr lang="en-US" sz="1350" b="1" dirty="0">
                <a:solidFill>
                  <a:srgbClr val="C8902B"/>
                </a:solidFill>
                <a:latin typeface="Calibri" pitchFamily="34" charset="0"/>
                <a:ea typeface="Calibri" pitchFamily="34" charset="-122"/>
                <a:cs typeface="Calibri" pitchFamily="34" charset="-120"/>
              </a:rPr>
              <a:t>sınırlı kalıyor</a:t>
            </a:r>
            <a:r>
              <a:rPr lang="en-US" sz="1350" dirty="0">
                <a:solidFill>
                  <a:srgbClr val="FFFFFF"/>
                </a:solidFill>
                <a:latin typeface="Calibri" pitchFamily="34" charset="0"/>
                <a:ea typeface="Calibri" pitchFamily="34" charset="-122"/>
                <a:cs typeface="Calibri" pitchFamily="34" charset="-120"/>
              </a:rPr>
              <a:t>.</a:t>
            </a:r>
            <a:endParaRPr lang="en-US" sz="1350" dirty="0"/>
          </a:p>
          <a:p>
            <a:pPr marL="0" indent="0">
              <a:lnSpc>
                <a:spcPct val="110000"/>
              </a:lnSpc>
              <a:buNone/>
            </a:pPr>
            <a:endParaRPr lang="en-US" sz="1350" dirty="0"/>
          </a:p>
          <a:p>
            <a:pPr marL="0" indent="0">
              <a:lnSpc>
                <a:spcPct val="110000"/>
              </a:lnSpc>
              <a:buNone/>
            </a:pPr>
            <a:r>
              <a:rPr lang="en-US" sz="1350" i="1" dirty="0">
                <a:solidFill>
                  <a:srgbClr val="F4ECE2"/>
                </a:solidFill>
                <a:latin typeface="Calibri" pitchFamily="34" charset="0"/>
                <a:ea typeface="Calibri" pitchFamily="34" charset="-122"/>
                <a:cs typeface="Calibri" pitchFamily="34" charset="-120"/>
              </a:rPr>
              <a:t>Mevcut çalışmalar rota optimizasyonuna odaklanıp outsource–in-house maliyet karşılaştırmasını kapsam dışı bırakıyor.</a:t>
            </a:r>
            <a:endParaRPr lang="en-US" sz="1350" dirty="0"/>
          </a:p>
        </p:txBody>
      </p:sp>
      <p:sp>
        <p:nvSpPr>
          <p:cNvPr id="27" name="Text 21"/>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03</a:t>
            </a:r>
            <a:endParaRPr lang="en-US" sz="1000" dirty="0"/>
          </a:p>
        </p:txBody>
      </p:sp>
      <p:sp>
        <p:nvSpPr>
          <p:cNvPr id="28" name="Text 22"/>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AMAÇ</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Çalışmanın Amacı ve Katkısı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Rota optimizasyonunu değil — stratejik karara dönüştürmek</a:t>
            </a:r>
            <a:endParaRPr lang="en-US" sz="1400" dirty="0"/>
          </a:p>
        </p:txBody>
      </p:sp>
      <p:sp>
        <p:nvSpPr>
          <p:cNvPr id="6" name="Shape 4"/>
          <p:cNvSpPr/>
          <p:nvPr/>
        </p:nvSpPr>
        <p:spPr>
          <a:xfrm>
            <a:off x="548640" y="2148840"/>
            <a:ext cx="11064240" cy="1005840"/>
          </a:xfrm>
          <a:prstGeom prst="roundRect">
            <a:avLst>
              <a:gd name="adj" fmla="val 727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7" name="Shape 5"/>
          <p:cNvSpPr/>
          <p:nvPr/>
        </p:nvSpPr>
        <p:spPr>
          <a:xfrm>
            <a:off x="822960" y="2377440"/>
            <a:ext cx="548640" cy="548640"/>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965606" y="2520086"/>
            <a:ext cx="263347" cy="263347"/>
          </a:xfrm>
          <a:prstGeom prst="rect">
            <a:avLst/>
          </a:prstGeom>
        </p:spPr>
      </p:pic>
      <p:sp>
        <p:nvSpPr>
          <p:cNvPr id="9" name="Text 6"/>
          <p:cNvSpPr/>
          <p:nvPr/>
        </p:nvSpPr>
        <p:spPr>
          <a:xfrm>
            <a:off x="1554480" y="2148840"/>
            <a:ext cx="9875520" cy="1005840"/>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Amaç:  </a:t>
            </a:r>
            <a:r>
              <a:rPr lang="en-US" sz="1400" dirty="0">
                <a:solidFill>
                  <a:srgbClr val="2B2024"/>
                </a:solidFill>
                <a:latin typeface="Calibri" pitchFamily="34" charset="0"/>
                <a:ea typeface="Calibri" pitchFamily="34" charset="-122"/>
                <a:cs typeface="Calibri" pitchFamily="34" charset="-120"/>
              </a:rPr>
              <a:t>LC Waikiki'nin depo–mağaza dağıtım sürecini MDCVRP çerçevesinde modellemek ve outsource ile in-house dağıtımın maliyetini karşılaştırarak karar destek sağlamak.</a:t>
            </a:r>
            <a:endParaRPr lang="en-US" sz="1500" dirty="0"/>
          </a:p>
        </p:txBody>
      </p:sp>
      <p:sp>
        <p:nvSpPr>
          <p:cNvPr id="10" name="Shape 7"/>
          <p:cNvSpPr/>
          <p:nvPr/>
        </p:nvSpPr>
        <p:spPr>
          <a:xfrm>
            <a:off x="548640" y="3429000"/>
            <a:ext cx="5394960" cy="1234440"/>
          </a:xfrm>
          <a:prstGeom prst="roundRect">
            <a:avLst>
              <a:gd name="adj" fmla="val 5185"/>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1" name="Shape 8"/>
          <p:cNvSpPr/>
          <p:nvPr/>
        </p:nvSpPr>
        <p:spPr>
          <a:xfrm>
            <a:off x="777240" y="3675888"/>
            <a:ext cx="713232" cy="713232"/>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sp>
        <p:nvSpPr>
          <p:cNvPr id="13" name="Text 9"/>
          <p:cNvSpPr/>
          <p:nvPr/>
        </p:nvSpPr>
        <p:spPr>
          <a:xfrm>
            <a:off x="1691640" y="3611880"/>
            <a:ext cx="4069080" cy="411480"/>
          </a:xfrm>
          <a:prstGeom prst="rect">
            <a:avLst/>
          </a:prstGeom>
          <a:noFill/>
          <a:ln/>
        </p:spPr>
        <p:txBody>
          <a:bodyPr wrap="square" lIns="0" tIns="0" rIns="0" bIns="0" rtlCol="0" anchor="ctr"/>
          <a:lstStyle/>
          <a:p>
            <a:pPr marL="0" indent="0">
              <a:buNone/>
            </a:pPr>
            <a:r>
              <a:rPr lang="en-US" sz="1450" b="1" dirty="0">
                <a:solidFill>
                  <a:srgbClr val="2B2024"/>
                </a:solidFill>
                <a:latin typeface="Calibri" pitchFamily="34" charset="0"/>
                <a:ea typeface="Calibri" pitchFamily="34" charset="-122"/>
                <a:cs typeface="Calibri" pitchFamily="34" charset="-120"/>
              </a:rPr>
              <a:t>Hazır Giyim Özelinde VRP</a:t>
            </a:r>
            <a:endParaRPr lang="en-US" sz="1450" dirty="0"/>
          </a:p>
        </p:txBody>
      </p:sp>
      <p:sp>
        <p:nvSpPr>
          <p:cNvPr id="14" name="Text 10"/>
          <p:cNvSpPr/>
          <p:nvPr/>
        </p:nvSpPr>
        <p:spPr>
          <a:xfrm>
            <a:off x="1691640" y="4032504"/>
            <a:ext cx="4069080" cy="502920"/>
          </a:xfrm>
          <a:prstGeom prst="rect">
            <a:avLst/>
          </a:prstGeom>
          <a:noFill/>
          <a:ln/>
        </p:spPr>
        <p:txBody>
          <a:bodyPr wrap="square" lIns="0" tIns="0" rIns="0" bIns="0" rtlCol="0" anchor="ctr"/>
          <a:lstStyle/>
          <a:p>
            <a:pPr marL="0" indent="0">
              <a:buNone/>
            </a:pPr>
            <a:r>
              <a:rPr lang="en-US" sz="1100" dirty="0">
                <a:solidFill>
                  <a:srgbClr val="7A6B6F"/>
                </a:solidFill>
                <a:latin typeface="Calibri" pitchFamily="34" charset="0"/>
                <a:ea typeface="Calibri" pitchFamily="34" charset="-122"/>
                <a:cs typeface="Calibri" pitchFamily="34" charset="-120"/>
              </a:rPr>
              <a:t>Sektöre özgü gerçek bir vaka üzerinde MDCVRP modeli</a:t>
            </a:r>
            <a:endParaRPr lang="en-US" sz="1100" dirty="0"/>
          </a:p>
        </p:txBody>
      </p:sp>
      <p:sp>
        <p:nvSpPr>
          <p:cNvPr id="15" name="Shape 11"/>
          <p:cNvSpPr/>
          <p:nvPr/>
        </p:nvSpPr>
        <p:spPr>
          <a:xfrm>
            <a:off x="6217920" y="3429000"/>
            <a:ext cx="5394960" cy="1234440"/>
          </a:xfrm>
          <a:prstGeom prst="roundRect">
            <a:avLst>
              <a:gd name="adj" fmla="val 5185"/>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6" name="Shape 12"/>
          <p:cNvSpPr/>
          <p:nvPr/>
        </p:nvSpPr>
        <p:spPr>
          <a:xfrm>
            <a:off x="6446520" y="3675888"/>
            <a:ext cx="713232" cy="713232"/>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7" name="Image 2" descr="preencoded.png"/>
          <p:cNvPicPr>
            <a:picLocks noChangeAspect="1"/>
          </p:cNvPicPr>
          <p:nvPr/>
        </p:nvPicPr>
        <p:blipFill>
          <a:blip r:embed="rId4"/>
          <a:stretch>
            <a:fillRect/>
          </a:stretch>
        </p:blipFill>
        <p:spPr>
          <a:xfrm>
            <a:off x="6631960" y="3861328"/>
            <a:ext cx="342351" cy="342351"/>
          </a:xfrm>
          <a:prstGeom prst="rect">
            <a:avLst/>
          </a:prstGeom>
        </p:spPr>
      </p:pic>
      <p:sp>
        <p:nvSpPr>
          <p:cNvPr id="18" name="Text 13"/>
          <p:cNvSpPr/>
          <p:nvPr/>
        </p:nvSpPr>
        <p:spPr>
          <a:xfrm>
            <a:off x="7360920" y="3611880"/>
            <a:ext cx="4069080" cy="411480"/>
          </a:xfrm>
          <a:prstGeom prst="rect">
            <a:avLst/>
          </a:prstGeom>
          <a:noFill/>
          <a:ln/>
        </p:spPr>
        <p:txBody>
          <a:bodyPr wrap="square" lIns="0" tIns="0" rIns="0" bIns="0" rtlCol="0" anchor="ctr"/>
          <a:lstStyle/>
          <a:p>
            <a:pPr marL="0" indent="0">
              <a:buNone/>
            </a:pPr>
            <a:r>
              <a:rPr lang="en-US" sz="1450" b="1" dirty="0">
                <a:solidFill>
                  <a:srgbClr val="2B2024"/>
                </a:solidFill>
                <a:latin typeface="Calibri" pitchFamily="34" charset="0"/>
                <a:ea typeface="Calibri" pitchFamily="34" charset="-122"/>
                <a:cs typeface="Calibri" pitchFamily="34" charset="-120"/>
              </a:rPr>
              <a:t>Rota–Maliyet Entegrasyonu</a:t>
            </a:r>
            <a:endParaRPr lang="en-US" sz="1450" dirty="0"/>
          </a:p>
        </p:txBody>
      </p:sp>
      <p:sp>
        <p:nvSpPr>
          <p:cNvPr id="19" name="Text 14"/>
          <p:cNvSpPr/>
          <p:nvPr/>
        </p:nvSpPr>
        <p:spPr>
          <a:xfrm>
            <a:off x="7360920" y="4032504"/>
            <a:ext cx="4069080" cy="502920"/>
          </a:xfrm>
          <a:prstGeom prst="rect">
            <a:avLst/>
          </a:prstGeom>
          <a:noFill/>
          <a:ln/>
        </p:spPr>
        <p:txBody>
          <a:bodyPr wrap="square" lIns="0" tIns="0" rIns="0" bIns="0" rtlCol="0" anchor="ctr"/>
          <a:lstStyle/>
          <a:p>
            <a:pPr marL="0" indent="0">
              <a:buNone/>
            </a:pPr>
            <a:r>
              <a:rPr lang="en-US" sz="1100" dirty="0">
                <a:solidFill>
                  <a:srgbClr val="7A6B6F"/>
                </a:solidFill>
                <a:latin typeface="Calibri" pitchFamily="34" charset="0"/>
                <a:ea typeface="Calibri" pitchFamily="34" charset="-122"/>
                <a:cs typeface="Calibri" pitchFamily="34" charset="-120"/>
              </a:rPr>
              <a:t>Rota çıktıları yakıt, personel, sabit maliyetlerle bütünleştiriliyor</a:t>
            </a:r>
            <a:endParaRPr lang="en-US" sz="1100" dirty="0"/>
          </a:p>
        </p:txBody>
      </p:sp>
      <p:sp>
        <p:nvSpPr>
          <p:cNvPr id="20" name="Shape 15"/>
          <p:cNvSpPr/>
          <p:nvPr/>
        </p:nvSpPr>
        <p:spPr>
          <a:xfrm>
            <a:off x="548640" y="4937760"/>
            <a:ext cx="5394960" cy="1234440"/>
          </a:xfrm>
          <a:prstGeom prst="roundRect">
            <a:avLst>
              <a:gd name="adj" fmla="val 5185"/>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1" name="Shape 16"/>
          <p:cNvSpPr/>
          <p:nvPr/>
        </p:nvSpPr>
        <p:spPr>
          <a:xfrm>
            <a:off x="777240" y="5184648"/>
            <a:ext cx="713232" cy="713232"/>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22" name="Image 3" descr="preencoded.png"/>
          <p:cNvPicPr>
            <a:picLocks noChangeAspect="1"/>
          </p:cNvPicPr>
          <p:nvPr/>
        </p:nvPicPr>
        <p:blipFill>
          <a:blip r:embed="rId5"/>
          <a:stretch>
            <a:fillRect/>
          </a:stretch>
        </p:blipFill>
        <p:spPr>
          <a:xfrm>
            <a:off x="962680" y="5370088"/>
            <a:ext cx="342351" cy="342351"/>
          </a:xfrm>
          <a:prstGeom prst="rect">
            <a:avLst/>
          </a:prstGeom>
        </p:spPr>
      </p:pic>
      <p:sp>
        <p:nvSpPr>
          <p:cNvPr id="23" name="Text 17"/>
          <p:cNvSpPr/>
          <p:nvPr/>
        </p:nvSpPr>
        <p:spPr>
          <a:xfrm>
            <a:off x="1691640" y="5120640"/>
            <a:ext cx="4069080" cy="411480"/>
          </a:xfrm>
          <a:prstGeom prst="rect">
            <a:avLst/>
          </a:prstGeom>
          <a:noFill/>
          <a:ln/>
        </p:spPr>
        <p:txBody>
          <a:bodyPr wrap="square" lIns="0" tIns="0" rIns="0" bIns="0" rtlCol="0" anchor="ctr"/>
          <a:lstStyle/>
          <a:p>
            <a:pPr marL="0" indent="0">
              <a:buNone/>
            </a:pPr>
            <a:r>
              <a:rPr lang="en-US" sz="1450" b="1" dirty="0">
                <a:solidFill>
                  <a:srgbClr val="2B2024"/>
                </a:solidFill>
                <a:latin typeface="Calibri" pitchFamily="34" charset="0"/>
                <a:ea typeface="Calibri" pitchFamily="34" charset="-122"/>
                <a:cs typeface="Calibri" pitchFamily="34" charset="-120"/>
              </a:rPr>
              <a:t>Make-or-Buy Karar Desteği</a:t>
            </a:r>
            <a:endParaRPr lang="en-US" sz="1450" dirty="0"/>
          </a:p>
        </p:txBody>
      </p:sp>
      <p:sp>
        <p:nvSpPr>
          <p:cNvPr id="24" name="Text 18"/>
          <p:cNvSpPr/>
          <p:nvPr/>
        </p:nvSpPr>
        <p:spPr>
          <a:xfrm>
            <a:off x="1691640" y="5541264"/>
            <a:ext cx="4069080" cy="502920"/>
          </a:xfrm>
          <a:prstGeom prst="rect">
            <a:avLst/>
          </a:prstGeom>
          <a:noFill/>
          <a:ln/>
        </p:spPr>
        <p:txBody>
          <a:bodyPr wrap="square" lIns="0" tIns="0" rIns="0" bIns="0" rtlCol="0" anchor="ctr"/>
          <a:lstStyle/>
          <a:p>
            <a:pPr marL="0" indent="0">
              <a:buNone/>
            </a:pPr>
            <a:r>
              <a:rPr lang="en-US" sz="1100" dirty="0">
                <a:solidFill>
                  <a:srgbClr val="7A6B6F"/>
                </a:solidFill>
                <a:latin typeface="Calibri" pitchFamily="34" charset="0"/>
                <a:ea typeface="Calibri" pitchFamily="34" charset="-122"/>
                <a:cs typeface="Calibri" pitchFamily="34" charset="-120"/>
              </a:rPr>
              <a:t>Outsource–in-house tercihi nicel verilerle destekleniyor</a:t>
            </a:r>
            <a:endParaRPr lang="en-US" sz="1100" dirty="0"/>
          </a:p>
        </p:txBody>
      </p:sp>
      <p:sp>
        <p:nvSpPr>
          <p:cNvPr id="25" name="Shape 19"/>
          <p:cNvSpPr/>
          <p:nvPr/>
        </p:nvSpPr>
        <p:spPr>
          <a:xfrm>
            <a:off x="6217920" y="4937760"/>
            <a:ext cx="5394960" cy="1234440"/>
          </a:xfrm>
          <a:prstGeom prst="roundRect">
            <a:avLst>
              <a:gd name="adj" fmla="val 5185"/>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6" name="Shape 20"/>
          <p:cNvSpPr/>
          <p:nvPr/>
        </p:nvSpPr>
        <p:spPr>
          <a:xfrm>
            <a:off x="6446520" y="5184648"/>
            <a:ext cx="713232" cy="713232"/>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27" name="Image 4" descr="preencoded.png"/>
          <p:cNvPicPr>
            <a:picLocks noChangeAspect="1"/>
          </p:cNvPicPr>
          <p:nvPr/>
        </p:nvPicPr>
        <p:blipFill>
          <a:blip r:embed="rId6"/>
          <a:stretch>
            <a:fillRect/>
          </a:stretch>
        </p:blipFill>
        <p:spPr>
          <a:xfrm>
            <a:off x="6631960" y="5370088"/>
            <a:ext cx="342351" cy="342351"/>
          </a:xfrm>
          <a:prstGeom prst="rect">
            <a:avLst/>
          </a:prstGeom>
        </p:spPr>
      </p:pic>
      <p:sp>
        <p:nvSpPr>
          <p:cNvPr id="28" name="Text 21"/>
          <p:cNvSpPr/>
          <p:nvPr/>
        </p:nvSpPr>
        <p:spPr>
          <a:xfrm>
            <a:off x="7360920" y="5120640"/>
            <a:ext cx="4069080" cy="411480"/>
          </a:xfrm>
          <a:prstGeom prst="rect">
            <a:avLst/>
          </a:prstGeom>
          <a:noFill/>
          <a:ln/>
        </p:spPr>
        <p:txBody>
          <a:bodyPr wrap="square" lIns="0" tIns="0" rIns="0" bIns="0" rtlCol="0" anchor="ctr"/>
          <a:lstStyle/>
          <a:p>
            <a:pPr marL="0" indent="0">
              <a:buNone/>
            </a:pPr>
            <a:r>
              <a:rPr lang="en-US" sz="1450" b="1" dirty="0">
                <a:solidFill>
                  <a:srgbClr val="2B2024"/>
                </a:solidFill>
                <a:latin typeface="Calibri" pitchFamily="34" charset="0"/>
                <a:ea typeface="Calibri" pitchFamily="34" charset="-122"/>
                <a:cs typeface="Calibri" pitchFamily="34" charset="-120"/>
              </a:rPr>
              <a:t>Pilot Ölçekte Uygulanabilirlik</a:t>
            </a:r>
            <a:endParaRPr lang="en-US" sz="1450" dirty="0"/>
          </a:p>
        </p:txBody>
      </p:sp>
      <p:sp>
        <p:nvSpPr>
          <p:cNvPr id="29" name="Text 22"/>
          <p:cNvSpPr/>
          <p:nvPr/>
        </p:nvSpPr>
        <p:spPr>
          <a:xfrm>
            <a:off x="7360920" y="5541264"/>
            <a:ext cx="4069080" cy="502920"/>
          </a:xfrm>
          <a:prstGeom prst="rect">
            <a:avLst/>
          </a:prstGeom>
          <a:noFill/>
          <a:ln/>
        </p:spPr>
        <p:txBody>
          <a:bodyPr wrap="square" lIns="0" tIns="0" rIns="0" bIns="0" rtlCol="0" anchor="ctr"/>
          <a:lstStyle/>
          <a:p>
            <a:pPr marL="0" indent="0">
              <a:buNone/>
            </a:pPr>
            <a:r>
              <a:rPr lang="en-US" sz="1100" dirty="0">
                <a:solidFill>
                  <a:srgbClr val="7A6B6F"/>
                </a:solidFill>
                <a:latin typeface="Calibri" pitchFamily="34" charset="0"/>
                <a:ea typeface="Calibri" pitchFamily="34" charset="-122"/>
                <a:cs typeface="Calibri" pitchFamily="34" charset="-120"/>
              </a:rPr>
              <a:t>204 mağazalık gerçek veriyle test edilen karar çerçevesi</a:t>
            </a:r>
            <a:endParaRPr lang="en-US" sz="1100" dirty="0"/>
          </a:p>
        </p:txBody>
      </p:sp>
      <p:sp>
        <p:nvSpPr>
          <p:cNvPr id="30" name="Text 23"/>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04</a:t>
            </a:r>
            <a:endParaRPr lang="en-US" sz="1000" dirty="0"/>
          </a:p>
        </p:txBody>
      </p:sp>
      <p:sp>
        <p:nvSpPr>
          <p:cNvPr id="31" name="Text 24"/>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pic>
        <p:nvPicPr>
          <p:cNvPr id="32" name="Image 1" descr="preencoded.png">
            <a:extLst>
              <a:ext uri="{FF2B5EF4-FFF2-40B4-BE49-F238E27FC236}">
                <a16:creationId xmlns:a16="http://schemas.microsoft.com/office/drawing/2014/main" id="{340283BE-1B26-0671-84F7-9ABE165F16ED}"/>
              </a:ext>
            </a:extLst>
          </p:cNvPr>
          <p:cNvPicPr>
            <a:picLocks noChangeAspect="1"/>
          </p:cNvPicPr>
          <p:nvPr/>
        </p:nvPicPr>
        <p:blipFill>
          <a:blip r:embed="rId7"/>
          <a:stretch>
            <a:fillRect/>
          </a:stretch>
        </p:blipFill>
        <p:spPr>
          <a:xfrm>
            <a:off x="958290" y="3847795"/>
            <a:ext cx="351130" cy="3511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LİTERATÜR · 1</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Araç Rotalama Problemi: Temel Yaklaşımlar</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Her yaklaşım farklı bir ölçek ve karmaşıklığa hizmet ediyor</a:t>
            </a:r>
            <a:endParaRPr lang="en-US" sz="1400" dirty="0"/>
          </a:p>
        </p:txBody>
      </p:sp>
      <p:sp>
        <p:nvSpPr>
          <p:cNvPr id="6" name="Shape 4"/>
          <p:cNvSpPr/>
          <p:nvPr/>
        </p:nvSpPr>
        <p:spPr>
          <a:xfrm>
            <a:off x="548640" y="2286000"/>
            <a:ext cx="3593592" cy="3246120"/>
          </a:xfrm>
          <a:prstGeom prst="roundRect">
            <a:avLst>
              <a:gd name="adj" fmla="val 2254"/>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7" name="Shape 5"/>
          <p:cNvSpPr/>
          <p:nvPr/>
        </p:nvSpPr>
        <p:spPr>
          <a:xfrm>
            <a:off x="822960"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1013155" y="2750515"/>
            <a:ext cx="351130" cy="351130"/>
          </a:xfrm>
          <a:prstGeom prst="rect">
            <a:avLst/>
          </a:prstGeom>
        </p:spPr>
      </p:pic>
      <p:sp>
        <p:nvSpPr>
          <p:cNvPr id="9" name="Text 6"/>
          <p:cNvSpPr/>
          <p:nvPr/>
        </p:nvSpPr>
        <p:spPr>
          <a:xfrm>
            <a:off x="1645920" y="2606040"/>
            <a:ext cx="2359152" cy="640080"/>
          </a:xfrm>
          <a:prstGeom prst="rect">
            <a:avLst/>
          </a:prstGeom>
          <a:noFill/>
          <a:ln/>
        </p:spPr>
        <p:txBody>
          <a:bodyPr wrap="square" lIns="0" tIns="0" rIns="0" bIns="0" rtlCol="0" anchor="ctr"/>
          <a:lstStyle/>
          <a:p>
            <a:pPr marL="0" indent="0">
              <a:buNone/>
            </a:pPr>
            <a:r>
              <a:rPr lang="en-US" sz="1800" b="1" dirty="0">
                <a:solidFill>
                  <a:srgbClr val="A26769"/>
                </a:solidFill>
                <a:latin typeface="Cambria" pitchFamily="34" charset="0"/>
                <a:ea typeface="Cambria" pitchFamily="34" charset="-122"/>
                <a:cs typeface="Cambria" pitchFamily="34" charset="-120"/>
              </a:rPr>
              <a:t>Klasik VRP</a:t>
            </a:r>
            <a:endParaRPr lang="en-US" sz="1800" dirty="0"/>
          </a:p>
        </p:txBody>
      </p:sp>
      <p:sp>
        <p:nvSpPr>
          <p:cNvPr id="10" name="Text 7"/>
          <p:cNvSpPr/>
          <p:nvPr/>
        </p:nvSpPr>
        <p:spPr>
          <a:xfrm>
            <a:off x="868680" y="3520440"/>
            <a:ext cx="3044952" cy="137160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Dantzig &amp; Ramser (1959)</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Tek depo, kapasite kısıtlı</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Temel kombinatoryal optimizasyon</a:t>
            </a:r>
            <a:endParaRPr lang="en-US" sz="1300" dirty="0"/>
          </a:p>
        </p:txBody>
      </p:sp>
      <p:sp>
        <p:nvSpPr>
          <p:cNvPr id="11" name="Shape 8"/>
          <p:cNvSpPr/>
          <p:nvPr/>
        </p:nvSpPr>
        <p:spPr>
          <a:xfrm>
            <a:off x="777240" y="4818888"/>
            <a:ext cx="3136392" cy="530352"/>
          </a:xfrm>
          <a:prstGeom prst="roundRect">
            <a:avLst>
              <a:gd name="adj" fmla="val 10345"/>
            </a:avLst>
          </a:prstGeom>
          <a:solidFill>
            <a:srgbClr val="F4ECE2"/>
          </a:solidFill>
          <a:ln/>
        </p:spPr>
        <p:txBody>
          <a:bodyPr/>
          <a:lstStyle/>
          <a:p>
            <a:endParaRPr lang="tr-TR"/>
          </a:p>
        </p:txBody>
      </p:sp>
      <p:sp>
        <p:nvSpPr>
          <p:cNvPr id="12" name="Text 9"/>
          <p:cNvSpPr/>
          <p:nvPr/>
        </p:nvSpPr>
        <p:spPr>
          <a:xfrm>
            <a:off x="868680" y="4818888"/>
            <a:ext cx="2953512" cy="530352"/>
          </a:xfrm>
          <a:prstGeom prst="rect">
            <a:avLst/>
          </a:prstGeom>
          <a:noFill/>
          <a:ln/>
        </p:spPr>
        <p:txBody>
          <a:bodyPr wrap="square" lIns="0" tIns="0" rIns="0" bIns="0" rtlCol="0" anchor="ctr"/>
          <a:lstStyle/>
          <a:p>
            <a:pPr marL="0" indent="0">
              <a:buNone/>
            </a:pPr>
            <a:r>
              <a:rPr lang="en-US" sz="1050" i="1" dirty="0">
                <a:solidFill>
                  <a:srgbClr val="7A6B6F"/>
                </a:solidFill>
                <a:latin typeface="Calibri" pitchFamily="34" charset="0"/>
                <a:ea typeface="Calibri" pitchFamily="34" charset="-122"/>
                <a:cs typeface="Calibri" pitchFamily="34" charset="-120"/>
              </a:rPr>
              <a:t>Küçük ölçek, kesin çözüme uygun</a:t>
            </a:r>
            <a:endParaRPr lang="en-US" sz="1050" dirty="0"/>
          </a:p>
        </p:txBody>
      </p:sp>
      <p:sp>
        <p:nvSpPr>
          <p:cNvPr id="13" name="Shape 10"/>
          <p:cNvSpPr/>
          <p:nvPr/>
        </p:nvSpPr>
        <p:spPr>
          <a:xfrm>
            <a:off x="4306824" y="2286000"/>
            <a:ext cx="3593592" cy="3246120"/>
          </a:xfrm>
          <a:prstGeom prst="roundRect">
            <a:avLst>
              <a:gd name="adj" fmla="val 2254"/>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14" name="Shape 11"/>
          <p:cNvSpPr/>
          <p:nvPr/>
        </p:nvSpPr>
        <p:spPr>
          <a:xfrm>
            <a:off x="4581144" y="2560320"/>
            <a:ext cx="731520" cy="731520"/>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15" name="Image 1" descr="preencoded.png"/>
          <p:cNvPicPr>
            <a:picLocks noChangeAspect="1"/>
          </p:cNvPicPr>
          <p:nvPr/>
        </p:nvPicPr>
        <p:blipFill>
          <a:blip r:embed="rId4"/>
          <a:stretch>
            <a:fillRect/>
          </a:stretch>
        </p:blipFill>
        <p:spPr>
          <a:xfrm>
            <a:off x="4771339" y="2750515"/>
            <a:ext cx="351130" cy="351130"/>
          </a:xfrm>
          <a:prstGeom prst="rect">
            <a:avLst/>
          </a:prstGeom>
        </p:spPr>
      </p:pic>
      <p:sp>
        <p:nvSpPr>
          <p:cNvPr id="16" name="Text 12"/>
          <p:cNvSpPr/>
          <p:nvPr/>
        </p:nvSpPr>
        <p:spPr>
          <a:xfrm>
            <a:off x="5404104" y="2606040"/>
            <a:ext cx="2359152" cy="640080"/>
          </a:xfrm>
          <a:prstGeom prst="rect">
            <a:avLst/>
          </a:prstGeom>
          <a:noFill/>
          <a:ln/>
        </p:spPr>
        <p:txBody>
          <a:bodyPr wrap="square" lIns="0" tIns="0" rIns="0" bIns="0" rtlCol="0" anchor="ctr"/>
          <a:lstStyle/>
          <a:p>
            <a:pPr marL="0" indent="0">
              <a:buNone/>
            </a:pPr>
            <a:r>
              <a:rPr lang="en-US" sz="1800" b="1" dirty="0">
                <a:solidFill>
                  <a:srgbClr val="C8902B"/>
                </a:solidFill>
                <a:latin typeface="Cambria" pitchFamily="34" charset="0"/>
                <a:ea typeface="Cambria" pitchFamily="34" charset="-122"/>
                <a:cs typeface="Cambria" pitchFamily="34" charset="-120"/>
              </a:rPr>
              <a:t>Çok Depolu VRP (MDCVRP)</a:t>
            </a:r>
            <a:endParaRPr lang="en-US" sz="1800" dirty="0"/>
          </a:p>
        </p:txBody>
      </p:sp>
      <p:sp>
        <p:nvSpPr>
          <p:cNvPr id="17" name="Text 13"/>
          <p:cNvSpPr/>
          <p:nvPr/>
        </p:nvSpPr>
        <p:spPr>
          <a:xfrm>
            <a:off x="4626864" y="3520440"/>
            <a:ext cx="3044952" cy="137160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Çoklu depo, çoklu araç</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Gerçek perakende ağlarına uygun</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Montoya-Torres ve diğ. (2015)</a:t>
            </a:r>
            <a:endParaRPr lang="en-US" sz="1300" dirty="0"/>
          </a:p>
        </p:txBody>
      </p:sp>
      <p:sp>
        <p:nvSpPr>
          <p:cNvPr id="18" name="Shape 14"/>
          <p:cNvSpPr/>
          <p:nvPr/>
        </p:nvSpPr>
        <p:spPr>
          <a:xfrm>
            <a:off x="4535424" y="4818888"/>
            <a:ext cx="3136392" cy="530352"/>
          </a:xfrm>
          <a:prstGeom prst="roundRect">
            <a:avLst>
              <a:gd name="adj" fmla="val 10345"/>
            </a:avLst>
          </a:prstGeom>
          <a:solidFill>
            <a:srgbClr val="F4ECE2"/>
          </a:solidFill>
          <a:ln/>
        </p:spPr>
        <p:txBody>
          <a:bodyPr/>
          <a:lstStyle/>
          <a:p>
            <a:endParaRPr lang="tr-TR"/>
          </a:p>
        </p:txBody>
      </p:sp>
      <p:sp>
        <p:nvSpPr>
          <p:cNvPr id="19" name="Text 15"/>
          <p:cNvSpPr/>
          <p:nvPr/>
        </p:nvSpPr>
        <p:spPr>
          <a:xfrm>
            <a:off x="4626864" y="4818888"/>
            <a:ext cx="2953512" cy="530352"/>
          </a:xfrm>
          <a:prstGeom prst="rect">
            <a:avLst/>
          </a:prstGeom>
          <a:noFill/>
          <a:ln/>
        </p:spPr>
        <p:txBody>
          <a:bodyPr wrap="square" lIns="0" tIns="0" rIns="0" bIns="0" rtlCol="0" anchor="ctr"/>
          <a:lstStyle/>
          <a:p>
            <a:pPr marL="0" indent="0">
              <a:buNone/>
            </a:pPr>
            <a:r>
              <a:rPr lang="en-US" sz="1050" i="1" dirty="0">
                <a:solidFill>
                  <a:srgbClr val="7A6B6F"/>
                </a:solidFill>
                <a:latin typeface="Calibri" pitchFamily="34" charset="0"/>
                <a:ea typeface="Calibri" pitchFamily="34" charset="-122"/>
                <a:cs typeface="Calibri" pitchFamily="34" charset="-120"/>
              </a:rPr>
              <a:t>Orta-büyük ölçek, gerçekçi kısıtlar</a:t>
            </a:r>
            <a:endParaRPr lang="en-US" sz="1050" dirty="0"/>
          </a:p>
        </p:txBody>
      </p:sp>
      <p:sp>
        <p:nvSpPr>
          <p:cNvPr id="20" name="Shape 16"/>
          <p:cNvSpPr/>
          <p:nvPr/>
        </p:nvSpPr>
        <p:spPr>
          <a:xfrm>
            <a:off x="8065008" y="2286000"/>
            <a:ext cx="3593592" cy="3246120"/>
          </a:xfrm>
          <a:prstGeom prst="roundRect">
            <a:avLst>
              <a:gd name="adj" fmla="val 2254"/>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21" name="Shape 17"/>
          <p:cNvSpPr/>
          <p:nvPr/>
        </p:nvSpPr>
        <p:spPr>
          <a:xfrm>
            <a:off x="8339328" y="2560320"/>
            <a:ext cx="731520" cy="731520"/>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sp>
        <p:nvSpPr>
          <p:cNvPr id="23" name="Text 18"/>
          <p:cNvSpPr/>
          <p:nvPr/>
        </p:nvSpPr>
        <p:spPr>
          <a:xfrm>
            <a:off x="9162288" y="2606040"/>
            <a:ext cx="2359152" cy="640080"/>
          </a:xfrm>
          <a:prstGeom prst="rect">
            <a:avLst/>
          </a:prstGeom>
          <a:noFill/>
          <a:ln/>
        </p:spPr>
        <p:txBody>
          <a:bodyPr wrap="square" lIns="0" tIns="0" rIns="0" bIns="0" rtlCol="0" anchor="ctr"/>
          <a:lstStyle/>
          <a:p>
            <a:pPr marL="0" indent="0">
              <a:buNone/>
            </a:pPr>
            <a:r>
              <a:rPr lang="en-US" sz="1800" b="1" dirty="0">
                <a:solidFill>
                  <a:srgbClr val="6D2E46"/>
                </a:solidFill>
                <a:latin typeface="Cambria" pitchFamily="34" charset="0"/>
                <a:ea typeface="Cambria" pitchFamily="34" charset="-122"/>
                <a:cs typeface="Cambria" pitchFamily="34" charset="-120"/>
              </a:rPr>
              <a:t>Sezgisel / Meta-sezgisel</a:t>
            </a:r>
            <a:endParaRPr lang="en-US" sz="1800" dirty="0"/>
          </a:p>
        </p:txBody>
      </p:sp>
      <p:sp>
        <p:nvSpPr>
          <p:cNvPr id="24" name="Text 19"/>
          <p:cNvSpPr/>
          <p:nvPr/>
        </p:nvSpPr>
        <p:spPr>
          <a:xfrm>
            <a:off x="8385048" y="3520440"/>
            <a:ext cx="3044952" cy="137160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Clarke–Wright Savings (1964)</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Guided Local Search</a:t>
            </a:r>
            <a:endParaRPr lang="en-US" sz="1300" dirty="0"/>
          </a:p>
          <a:p>
            <a:pPr marL="342900" indent="-342900">
              <a:spcAft>
                <a:spcPts val="900"/>
              </a:spcAft>
              <a:buSzPct val="100000"/>
              <a:buChar char="•"/>
            </a:pPr>
            <a:r>
              <a:rPr lang="en-US" sz="1300" dirty="0">
                <a:solidFill>
                  <a:srgbClr val="2B2024"/>
                </a:solidFill>
                <a:latin typeface="Calibri" pitchFamily="34" charset="0"/>
                <a:ea typeface="Calibri" pitchFamily="34" charset="-122"/>
                <a:cs typeface="Calibri" pitchFamily="34" charset="-120"/>
              </a:rPr>
              <a:t>Tabu Search · Simulated Annealing</a:t>
            </a:r>
            <a:endParaRPr lang="en-US" sz="1300" dirty="0"/>
          </a:p>
        </p:txBody>
      </p:sp>
      <p:sp>
        <p:nvSpPr>
          <p:cNvPr id="25" name="Shape 20"/>
          <p:cNvSpPr/>
          <p:nvPr/>
        </p:nvSpPr>
        <p:spPr>
          <a:xfrm>
            <a:off x="8293608" y="4818888"/>
            <a:ext cx="3136392" cy="530352"/>
          </a:xfrm>
          <a:prstGeom prst="roundRect">
            <a:avLst>
              <a:gd name="adj" fmla="val 10345"/>
            </a:avLst>
          </a:prstGeom>
          <a:solidFill>
            <a:srgbClr val="F4ECE2"/>
          </a:solidFill>
          <a:ln/>
        </p:spPr>
        <p:txBody>
          <a:bodyPr/>
          <a:lstStyle/>
          <a:p>
            <a:endParaRPr lang="tr-TR"/>
          </a:p>
        </p:txBody>
      </p:sp>
      <p:sp>
        <p:nvSpPr>
          <p:cNvPr id="26" name="Text 21"/>
          <p:cNvSpPr/>
          <p:nvPr/>
        </p:nvSpPr>
        <p:spPr>
          <a:xfrm>
            <a:off x="8385048" y="4818888"/>
            <a:ext cx="2953512" cy="530352"/>
          </a:xfrm>
          <a:prstGeom prst="rect">
            <a:avLst/>
          </a:prstGeom>
          <a:noFill/>
          <a:ln/>
        </p:spPr>
        <p:txBody>
          <a:bodyPr wrap="square" lIns="0" tIns="0" rIns="0" bIns="0" rtlCol="0" anchor="ctr"/>
          <a:lstStyle/>
          <a:p>
            <a:pPr marL="0" indent="0">
              <a:buNone/>
            </a:pPr>
            <a:r>
              <a:rPr lang="en-US" sz="1050" i="1" dirty="0">
                <a:solidFill>
                  <a:srgbClr val="7A6B6F"/>
                </a:solidFill>
                <a:latin typeface="Calibri" pitchFamily="34" charset="0"/>
                <a:ea typeface="Calibri" pitchFamily="34" charset="-122"/>
                <a:cs typeface="Calibri" pitchFamily="34" charset="-120"/>
              </a:rPr>
              <a:t>Büyük ölçek, makul sürede iyi çözüm</a:t>
            </a:r>
            <a:endParaRPr lang="en-US" sz="1050" dirty="0"/>
          </a:p>
        </p:txBody>
      </p:sp>
      <p:sp>
        <p:nvSpPr>
          <p:cNvPr id="27" name="Text 2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05</a:t>
            </a:r>
            <a:endParaRPr lang="en-US" sz="1000" dirty="0"/>
          </a:p>
        </p:txBody>
      </p:sp>
      <p:sp>
        <p:nvSpPr>
          <p:cNvPr id="28" name="Text 23"/>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pic>
        <p:nvPicPr>
          <p:cNvPr id="30" name="Image 0" descr="preencoded.png">
            <a:extLst>
              <a:ext uri="{FF2B5EF4-FFF2-40B4-BE49-F238E27FC236}">
                <a16:creationId xmlns:a16="http://schemas.microsoft.com/office/drawing/2014/main" id="{698695BA-CED4-9B0C-B76F-6960C93CBD33}"/>
              </a:ext>
            </a:extLst>
          </p:cNvPr>
          <p:cNvPicPr>
            <a:picLocks noChangeAspect="1"/>
          </p:cNvPicPr>
          <p:nvPr/>
        </p:nvPicPr>
        <p:blipFill>
          <a:blip r:embed="rId5"/>
          <a:stretch>
            <a:fillRect/>
          </a:stretch>
        </p:blipFill>
        <p:spPr>
          <a:xfrm>
            <a:off x="8530437" y="2750515"/>
            <a:ext cx="351130" cy="3511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LİTERATÜR · 2</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Outsource–In-house ve Maliyet Karşılaştırması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Rota optimizasyonundan maliyet kararına</a:t>
            </a:r>
            <a:endParaRPr lang="en-US" sz="1400" dirty="0"/>
          </a:p>
        </p:txBody>
      </p:sp>
      <p:sp>
        <p:nvSpPr>
          <p:cNvPr id="6" name="Shape 4"/>
          <p:cNvSpPr/>
          <p:nvPr/>
        </p:nvSpPr>
        <p:spPr>
          <a:xfrm>
            <a:off x="548640" y="2240280"/>
            <a:ext cx="5440680" cy="1783080"/>
          </a:xfrm>
          <a:prstGeom prst="roundRect">
            <a:avLst>
              <a:gd name="adj" fmla="val 410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7" name="Text 5"/>
          <p:cNvSpPr/>
          <p:nvPr/>
        </p:nvSpPr>
        <p:spPr>
          <a:xfrm>
            <a:off x="822960" y="2377440"/>
            <a:ext cx="4937760" cy="411480"/>
          </a:xfrm>
          <a:prstGeom prst="rect">
            <a:avLst/>
          </a:prstGeom>
          <a:noFill/>
          <a:ln/>
        </p:spPr>
        <p:txBody>
          <a:bodyPr wrap="square" lIns="0" tIns="0" rIns="0" bIns="0" rtlCol="0" anchor="ctr"/>
          <a:lstStyle/>
          <a:p>
            <a:pPr marL="0" indent="0">
              <a:buNone/>
            </a:pPr>
            <a:r>
              <a:rPr lang="en-US" sz="1500" b="1" dirty="0">
                <a:solidFill>
                  <a:srgbClr val="A26769"/>
                </a:solidFill>
                <a:latin typeface="Calibri" pitchFamily="34" charset="0"/>
                <a:ea typeface="Calibri" pitchFamily="34" charset="-122"/>
                <a:cs typeface="Calibri" pitchFamily="34" charset="-120"/>
              </a:rPr>
              <a:t>Outsource (3PL) Yaklaşımı</a:t>
            </a:r>
            <a:endParaRPr lang="en-US" sz="1500" dirty="0"/>
          </a:p>
        </p:txBody>
      </p:sp>
      <p:sp>
        <p:nvSpPr>
          <p:cNvPr id="8" name="Text 6"/>
          <p:cNvSpPr/>
          <p:nvPr/>
        </p:nvSpPr>
        <p:spPr>
          <a:xfrm>
            <a:off x="868680" y="2834640"/>
            <a:ext cx="4937760" cy="109728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Ölçek ekonomisi, geniş coğrafi erişim</a:t>
            </a:r>
            <a:endParaRPr lang="en-US" sz="1200" dirty="0"/>
          </a:p>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Transfer merkezi (hub) mantığı</a:t>
            </a:r>
            <a:endParaRPr lang="en-US" sz="1200" dirty="0"/>
          </a:p>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Sınırlı kontrol, çoklu elleçleme riski</a:t>
            </a:r>
            <a:endParaRPr lang="en-US" sz="1200" dirty="0"/>
          </a:p>
        </p:txBody>
      </p:sp>
      <p:sp>
        <p:nvSpPr>
          <p:cNvPr id="9" name="Shape 7"/>
          <p:cNvSpPr/>
          <p:nvPr/>
        </p:nvSpPr>
        <p:spPr>
          <a:xfrm>
            <a:off x="6172200" y="2240280"/>
            <a:ext cx="5440680" cy="1783080"/>
          </a:xfrm>
          <a:prstGeom prst="roundRect">
            <a:avLst>
              <a:gd name="adj" fmla="val 4103"/>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0" name="Text 8"/>
          <p:cNvSpPr/>
          <p:nvPr/>
        </p:nvSpPr>
        <p:spPr>
          <a:xfrm>
            <a:off x="6446520" y="2377440"/>
            <a:ext cx="4937760" cy="411480"/>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In-house Yaklaşımı</a:t>
            </a:r>
            <a:endParaRPr lang="en-US" sz="1500" dirty="0"/>
          </a:p>
        </p:txBody>
      </p:sp>
      <p:sp>
        <p:nvSpPr>
          <p:cNvPr id="11" name="Text 9"/>
          <p:cNvSpPr/>
          <p:nvPr/>
        </p:nvSpPr>
        <p:spPr>
          <a:xfrm>
            <a:off x="6492240" y="2834640"/>
            <a:ext cx="4937760" cy="109728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Doğrudan teslimat, operasyonel kontrol</a:t>
            </a:r>
            <a:endParaRPr lang="en-US" sz="1200" dirty="0"/>
          </a:p>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Yüksek sabit yatırım gerektirir</a:t>
            </a:r>
            <a:endParaRPr lang="en-US" sz="1200" dirty="0"/>
          </a:p>
          <a:p>
            <a:pPr marL="342900" indent="-342900">
              <a:spcAft>
                <a:spcPts val="500"/>
              </a:spcAft>
              <a:buSzPct val="100000"/>
              <a:buChar char="•"/>
            </a:pPr>
            <a:r>
              <a:rPr lang="en-US" sz="1200" dirty="0">
                <a:solidFill>
                  <a:srgbClr val="2B2024"/>
                </a:solidFill>
                <a:latin typeface="Calibri" pitchFamily="34" charset="0"/>
                <a:ea typeface="Calibri" pitchFamily="34" charset="-122"/>
                <a:cs typeface="Calibri" pitchFamily="34" charset="-120"/>
              </a:rPr>
              <a:t>Belirli mesafe/talep yoğunluğunda avantajlı</a:t>
            </a:r>
            <a:endParaRPr lang="en-US" sz="1200" dirty="0"/>
          </a:p>
        </p:txBody>
      </p:sp>
      <p:sp>
        <p:nvSpPr>
          <p:cNvPr id="12" name="Shape 10"/>
          <p:cNvSpPr/>
          <p:nvPr/>
        </p:nvSpPr>
        <p:spPr>
          <a:xfrm>
            <a:off x="548640" y="4251960"/>
            <a:ext cx="11064240" cy="1783080"/>
          </a:xfrm>
          <a:prstGeom prst="roundRect">
            <a:avLst>
              <a:gd name="adj" fmla="val 4103"/>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13" name="Shape 11"/>
          <p:cNvSpPr/>
          <p:nvPr/>
        </p:nvSpPr>
        <p:spPr>
          <a:xfrm>
            <a:off x="868680" y="4617720"/>
            <a:ext cx="713232" cy="713232"/>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14" name="Image 0" descr="preencoded.png"/>
          <p:cNvPicPr>
            <a:picLocks noChangeAspect="1"/>
          </p:cNvPicPr>
          <p:nvPr/>
        </p:nvPicPr>
        <p:blipFill>
          <a:blip r:embed="rId3"/>
          <a:stretch>
            <a:fillRect/>
          </a:stretch>
        </p:blipFill>
        <p:spPr>
          <a:xfrm>
            <a:off x="1054120" y="4803160"/>
            <a:ext cx="342351" cy="342351"/>
          </a:xfrm>
          <a:prstGeom prst="rect">
            <a:avLst/>
          </a:prstGeom>
        </p:spPr>
      </p:pic>
      <p:sp>
        <p:nvSpPr>
          <p:cNvPr id="15" name="Text 12"/>
          <p:cNvSpPr/>
          <p:nvPr/>
        </p:nvSpPr>
        <p:spPr>
          <a:xfrm>
            <a:off x="1783080" y="4434840"/>
            <a:ext cx="59436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Toplam Sahip Olma Maliyeti (TCO)</a:t>
            </a:r>
            <a:endParaRPr lang="en-US" sz="1600" dirty="0"/>
          </a:p>
        </p:txBody>
      </p:sp>
      <p:sp>
        <p:nvSpPr>
          <p:cNvPr id="16" name="Text 13"/>
          <p:cNvSpPr/>
          <p:nvPr/>
        </p:nvSpPr>
        <p:spPr>
          <a:xfrm>
            <a:off x="1783080" y="4892040"/>
            <a:ext cx="5760720" cy="868680"/>
          </a:xfrm>
          <a:prstGeom prst="rect">
            <a:avLst/>
          </a:prstGeom>
          <a:noFill/>
          <a:ln/>
        </p:spPr>
        <p:txBody>
          <a:bodyPr wrap="square" lIns="0" tIns="0" rIns="0" bIns="0" rtlCol="0" anchor="t"/>
          <a:lstStyle/>
          <a:p>
            <a:pPr marL="0" indent="0">
              <a:lnSpc>
                <a:spcPct val="105000"/>
              </a:lnSpc>
              <a:buNone/>
            </a:pPr>
            <a:r>
              <a:rPr lang="en-US" sz="1250" b="1" dirty="0">
                <a:solidFill>
                  <a:srgbClr val="C8902B"/>
                </a:solidFill>
                <a:latin typeface="Calibri" pitchFamily="34" charset="0"/>
                <a:ea typeface="Calibri" pitchFamily="34" charset="-122"/>
                <a:cs typeface="Calibri" pitchFamily="34" charset="-120"/>
              </a:rPr>
              <a:t>Literatürde outsource–in-house kıyaslamaları genellikle tek boyutlu; </a:t>
            </a:r>
            <a:r>
              <a:rPr lang="en-US" sz="1250" dirty="0">
                <a:solidFill>
                  <a:srgbClr val="F4ECE2"/>
                </a:solidFill>
                <a:latin typeface="Calibri" pitchFamily="34" charset="0"/>
                <a:ea typeface="Calibri" pitchFamily="34" charset="-122"/>
                <a:cs typeface="Calibri" pitchFamily="34" charset="-120"/>
              </a:rPr>
              <a:t>bakım, sigorta, amortisman gibi kalemleri içeren kapsamlı TCO çalışmaları sınırlı kalıyor.</a:t>
            </a:r>
            <a:endParaRPr lang="en-US" sz="1250" dirty="0"/>
          </a:p>
        </p:txBody>
      </p:sp>
      <p:sp>
        <p:nvSpPr>
          <p:cNvPr id="17" name="Shape 14"/>
          <p:cNvSpPr/>
          <p:nvPr/>
        </p:nvSpPr>
        <p:spPr>
          <a:xfrm>
            <a:off x="7818120" y="4526280"/>
            <a:ext cx="3657600" cy="1325880"/>
          </a:xfrm>
          <a:prstGeom prst="roundRect">
            <a:avLst>
              <a:gd name="adj" fmla="val 5517"/>
            </a:avLst>
          </a:prstGeom>
          <a:solidFill>
            <a:srgbClr val="A26769"/>
          </a:solidFill>
          <a:ln/>
        </p:spPr>
        <p:txBody>
          <a:bodyPr/>
          <a:lstStyle/>
          <a:p>
            <a:endParaRPr lang="tr-TR"/>
          </a:p>
        </p:txBody>
      </p:sp>
      <p:sp>
        <p:nvSpPr>
          <p:cNvPr id="18" name="Text 15"/>
          <p:cNvSpPr/>
          <p:nvPr/>
        </p:nvSpPr>
        <p:spPr>
          <a:xfrm>
            <a:off x="8046720" y="4663440"/>
            <a:ext cx="3200400" cy="1097280"/>
          </a:xfrm>
          <a:prstGeom prst="rect">
            <a:avLst/>
          </a:prstGeom>
          <a:noFill/>
          <a:ln/>
        </p:spPr>
        <p:txBody>
          <a:bodyPr wrap="square" lIns="0" tIns="0" rIns="0" bIns="0" rtlCol="0" anchor="ctr"/>
          <a:lstStyle/>
          <a:p>
            <a:pPr marL="0" indent="0">
              <a:lnSpc>
                <a:spcPct val="105000"/>
              </a:lnSpc>
              <a:buNone/>
            </a:pPr>
            <a:r>
              <a:rPr lang="en-US" sz="1100" b="1" dirty="0">
                <a:solidFill>
                  <a:srgbClr val="F4ECE2"/>
                </a:solidFill>
                <a:latin typeface="Calibri" pitchFamily="34" charset="0"/>
                <a:ea typeface="Calibri" pitchFamily="34" charset="-122"/>
                <a:cs typeface="Calibri" pitchFamily="34" charset="-120"/>
              </a:rPr>
              <a:t>Temel çıkarım</a:t>
            </a:r>
            <a:endParaRPr lang="en-US" sz="1100" dirty="0"/>
          </a:p>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Rota optimizasyonu ve tedarik modeli kararı </a:t>
            </a:r>
            <a:r>
              <a:rPr lang="en-US" sz="1300" b="1" dirty="0">
                <a:solidFill>
                  <a:srgbClr val="FFFFFF"/>
                </a:solidFill>
                <a:latin typeface="Calibri" pitchFamily="34" charset="0"/>
                <a:ea typeface="Calibri" pitchFamily="34" charset="-122"/>
                <a:cs typeface="Calibri" pitchFamily="34" charset="-120"/>
              </a:rPr>
              <a:t>ayrı değil</a:t>
            </a:r>
            <a:r>
              <a:rPr lang="en-US" sz="1300" dirty="0">
                <a:solidFill>
                  <a:srgbClr val="FFFFFF"/>
                </a:solidFill>
                <a:latin typeface="Calibri" pitchFamily="34" charset="0"/>
                <a:ea typeface="Calibri" pitchFamily="34" charset="-122"/>
                <a:cs typeface="Calibri" pitchFamily="34" charset="-120"/>
              </a:rPr>
              <a:t> — bir arada ele alınmalı.</a:t>
            </a:r>
            <a:endParaRPr lang="en-US" sz="1100" dirty="0"/>
          </a:p>
        </p:txBody>
      </p:sp>
      <p:sp>
        <p:nvSpPr>
          <p:cNvPr id="19" name="Text 16"/>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06</a:t>
            </a:r>
            <a:endParaRPr lang="en-US" sz="1000" dirty="0"/>
          </a:p>
        </p:txBody>
      </p:sp>
      <p:sp>
        <p:nvSpPr>
          <p:cNvPr id="20" name="Text 17"/>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SİSTEM</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Kurduğumuz Sistem: Genel Bakış</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6 depo · 204 pilot mağaza · veriden karara döngü</a:t>
            </a:r>
            <a:endParaRPr lang="en-US" sz="1400" dirty="0"/>
          </a:p>
        </p:txBody>
      </p:sp>
      <p:sp>
        <p:nvSpPr>
          <p:cNvPr id="6" name="Shape 4"/>
          <p:cNvSpPr/>
          <p:nvPr/>
        </p:nvSpPr>
        <p:spPr>
          <a:xfrm>
            <a:off x="548640"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7" name="Shape 5"/>
          <p:cNvSpPr/>
          <p:nvPr/>
        </p:nvSpPr>
        <p:spPr>
          <a:xfrm>
            <a:off x="1060704"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1250899" y="2750515"/>
            <a:ext cx="351130" cy="351130"/>
          </a:xfrm>
          <a:prstGeom prst="rect">
            <a:avLst/>
          </a:prstGeom>
        </p:spPr>
      </p:pic>
      <p:sp>
        <p:nvSpPr>
          <p:cNvPr id="9" name="Text 6"/>
          <p:cNvSpPr/>
          <p:nvPr/>
        </p:nvSpPr>
        <p:spPr>
          <a:xfrm>
            <a:off x="640080"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Veri Girişi</a:t>
            </a:r>
            <a:endParaRPr lang="en-US" sz="1250" dirty="0"/>
          </a:p>
        </p:txBody>
      </p:sp>
      <p:sp>
        <p:nvSpPr>
          <p:cNvPr id="10" name="Text 7"/>
          <p:cNvSpPr/>
          <p:nvPr/>
        </p:nvSpPr>
        <p:spPr>
          <a:xfrm>
            <a:off x="640080"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Depo / mağaza konumu + talep</a:t>
            </a:r>
            <a:endParaRPr lang="en-US" sz="950" dirty="0"/>
          </a:p>
        </p:txBody>
      </p:sp>
      <p:sp>
        <p:nvSpPr>
          <p:cNvPr id="11" name="Text 8"/>
          <p:cNvSpPr/>
          <p:nvPr/>
        </p:nvSpPr>
        <p:spPr>
          <a:xfrm>
            <a:off x="2267712" y="2834640"/>
            <a:ext cx="201168" cy="548640"/>
          </a:xfrm>
          <a:prstGeom prst="rect">
            <a:avLst/>
          </a:prstGeom>
          <a:noFill/>
          <a:ln/>
        </p:spPr>
        <p:txBody>
          <a:bodyPr wrap="square" lIns="0" tIns="0" rIns="0" bIns="0" rtlCol="0" anchor="ctr"/>
          <a:lstStyle/>
          <a:p>
            <a:pPr marL="0" indent="0" algn="ctr">
              <a:buNone/>
            </a:pPr>
            <a:r>
              <a:rPr lang="en-US" sz="2600" b="1" dirty="0">
                <a:solidFill>
                  <a:srgbClr val="C8902B"/>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2414016"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3" name="Shape 10"/>
          <p:cNvSpPr/>
          <p:nvPr/>
        </p:nvSpPr>
        <p:spPr>
          <a:xfrm>
            <a:off x="2926080"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4" name="Image 1" descr="preencoded.png"/>
          <p:cNvPicPr>
            <a:picLocks noChangeAspect="1"/>
          </p:cNvPicPr>
          <p:nvPr/>
        </p:nvPicPr>
        <p:blipFill>
          <a:blip r:embed="rId4"/>
          <a:stretch>
            <a:fillRect/>
          </a:stretch>
        </p:blipFill>
        <p:spPr>
          <a:xfrm>
            <a:off x="3116275" y="2750515"/>
            <a:ext cx="351130" cy="351130"/>
          </a:xfrm>
          <a:prstGeom prst="rect">
            <a:avLst/>
          </a:prstGeom>
        </p:spPr>
      </p:pic>
      <p:sp>
        <p:nvSpPr>
          <p:cNvPr id="15" name="Text 11"/>
          <p:cNvSpPr/>
          <p:nvPr/>
        </p:nvSpPr>
        <p:spPr>
          <a:xfrm>
            <a:off x="2505456"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Mesafe Analizi</a:t>
            </a:r>
            <a:endParaRPr lang="en-US" sz="1250" dirty="0"/>
          </a:p>
        </p:txBody>
      </p:sp>
      <p:sp>
        <p:nvSpPr>
          <p:cNvPr id="16" name="Text 12"/>
          <p:cNvSpPr/>
          <p:nvPr/>
        </p:nvSpPr>
        <p:spPr>
          <a:xfrm>
            <a:off x="2505456"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OSRM tabanlı mesafe/süre matrisi</a:t>
            </a:r>
            <a:endParaRPr lang="en-US" sz="950" dirty="0"/>
          </a:p>
        </p:txBody>
      </p:sp>
      <p:sp>
        <p:nvSpPr>
          <p:cNvPr id="17" name="Text 13"/>
          <p:cNvSpPr/>
          <p:nvPr/>
        </p:nvSpPr>
        <p:spPr>
          <a:xfrm>
            <a:off x="4133088" y="2834640"/>
            <a:ext cx="201168" cy="548640"/>
          </a:xfrm>
          <a:prstGeom prst="rect">
            <a:avLst/>
          </a:prstGeom>
          <a:noFill/>
          <a:ln/>
        </p:spPr>
        <p:txBody>
          <a:bodyPr wrap="square" lIns="0" tIns="0" rIns="0" bIns="0" rtlCol="0" anchor="ctr"/>
          <a:lstStyle/>
          <a:p>
            <a:pPr marL="0" indent="0" algn="ctr">
              <a:buNone/>
            </a:pPr>
            <a:r>
              <a:rPr lang="en-US" sz="2600" b="1" dirty="0">
                <a:solidFill>
                  <a:srgbClr val="C8902B"/>
                </a:solidFill>
                <a:latin typeface="Calibri" pitchFamily="34" charset="0"/>
                <a:ea typeface="Calibri" pitchFamily="34" charset="-122"/>
                <a:cs typeface="Calibri" pitchFamily="34" charset="-120"/>
              </a:rPr>
              <a:t>›</a:t>
            </a:r>
            <a:endParaRPr lang="en-US" sz="2600" dirty="0"/>
          </a:p>
        </p:txBody>
      </p:sp>
      <p:sp>
        <p:nvSpPr>
          <p:cNvPr id="18" name="Shape 14"/>
          <p:cNvSpPr/>
          <p:nvPr/>
        </p:nvSpPr>
        <p:spPr>
          <a:xfrm>
            <a:off x="4279392"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9" name="Shape 15"/>
          <p:cNvSpPr/>
          <p:nvPr/>
        </p:nvSpPr>
        <p:spPr>
          <a:xfrm>
            <a:off x="4791456" y="2560320"/>
            <a:ext cx="731520" cy="731520"/>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20" name="Image 2" descr="preencoded.png"/>
          <p:cNvPicPr>
            <a:picLocks noChangeAspect="1"/>
          </p:cNvPicPr>
          <p:nvPr/>
        </p:nvPicPr>
        <p:blipFill>
          <a:blip r:embed="rId5"/>
          <a:stretch>
            <a:fillRect/>
          </a:stretch>
        </p:blipFill>
        <p:spPr>
          <a:xfrm>
            <a:off x="4981651" y="2750515"/>
            <a:ext cx="351130" cy="351130"/>
          </a:xfrm>
          <a:prstGeom prst="rect">
            <a:avLst/>
          </a:prstGeom>
        </p:spPr>
      </p:pic>
      <p:sp>
        <p:nvSpPr>
          <p:cNvPr id="21" name="Text 16"/>
          <p:cNvSpPr/>
          <p:nvPr/>
        </p:nvSpPr>
        <p:spPr>
          <a:xfrm>
            <a:off x="4370832"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Sınıflandırma</a:t>
            </a:r>
            <a:endParaRPr lang="en-US" sz="1250" dirty="0"/>
          </a:p>
        </p:txBody>
      </p:sp>
      <p:sp>
        <p:nvSpPr>
          <p:cNvPr id="22" name="Text 17"/>
          <p:cNvSpPr/>
          <p:nvPr/>
        </p:nvSpPr>
        <p:spPr>
          <a:xfrm>
            <a:off x="4370832"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200 km eşiği: in-house / outsource</a:t>
            </a:r>
            <a:endParaRPr lang="en-US" sz="950" dirty="0"/>
          </a:p>
        </p:txBody>
      </p:sp>
      <p:sp>
        <p:nvSpPr>
          <p:cNvPr id="23" name="Text 18"/>
          <p:cNvSpPr/>
          <p:nvPr/>
        </p:nvSpPr>
        <p:spPr>
          <a:xfrm>
            <a:off x="5998464" y="2834640"/>
            <a:ext cx="201168" cy="548640"/>
          </a:xfrm>
          <a:prstGeom prst="rect">
            <a:avLst/>
          </a:prstGeom>
          <a:noFill/>
          <a:ln/>
        </p:spPr>
        <p:txBody>
          <a:bodyPr wrap="square" lIns="0" tIns="0" rIns="0" bIns="0" rtlCol="0" anchor="ctr"/>
          <a:lstStyle/>
          <a:p>
            <a:pPr marL="0" indent="0" algn="ctr">
              <a:buNone/>
            </a:pPr>
            <a:r>
              <a:rPr lang="en-US" sz="2600" b="1" dirty="0">
                <a:solidFill>
                  <a:srgbClr val="C8902B"/>
                </a:solidFill>
                <a:latin typeface="Calibri" pitchFamily="34" charset="0"/>
                <a:ea typeface="Calibri" pitchFamily="34" charset="-122"/>
                <a:cs typeface="Calibri" pitchFamily="34" charset="-120"/>
              </a:rPr>
              <a:t>›</a:t>
            </a:r>
            <a:endParaRPr lang="en-US" sz="2600" dirty="0"/>
          </a:p>
        </p:txBody>
      </p:sp>
      <p:sp>
        <p:nvSpPr>
          <p:cNvPr id="24" name="Shape 19"/>
          <p:cNvSpPr/>
          <p:nvPr/>
        </p:nvSpPr>
        <p:spPr>
          <a:xfrm>
            <a:off x="6144768"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5" name="Shape 20"/>
          <p:cNvSpPr/>
          <p:nvPr/>
        </p:nvSpPr>
        <p:spPr>
          <a:xfrm>
            <a:off x="6656832"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26" name="Image 3" descr="preencoded.png"/>
          <p:cNvPicPr>
            <a:picLocks noChangeAspect="1"/>
          </p:cNvPicPr>
          <p:nvPr/>
        </p:nvPicPr>
        <p:blipFill>
          <a:blip r:embed="rId6"/>
          <a:stretch>
            <a:fillRect/>
          </a:stretch>
        </p:blipFill>
        <p:spPr>
          <a:xfrm>
            <a:off x="6847027" y="2750515"/>
            <a:ext cx="351130" cy="351130"/>
          </a:xfrm>
          <a:prstGeom prst="rect">
            <a:avLst/>
          </a:prstGeom>
        </p:spPr>
      </p:pic>
      <p:sp>
        <p:nvSpPr>
          <p:cNvPr id="27" name="Text 21"/>
          <p:cNvSpPr/>
          <p:nvPr/>
        </p:nvSpPr>
        <p:spPr>
          <a:xfrm>
            <a:off x="6236208"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Rota Optimizasyonu</a:t>
            </a:r>
            <a:endParaRPr lang="en-US" sz="1250" dirty="0"/>
          </a:p>
        </p:txBody>
      </p:sp>
      <p:sp>
        <p:nvSpPr>
          <p:cNvPr id="28" name="Text 22"/>
          <p:cNvSpPr/>
          <p:nvPr/>
        </p:nvSpPr>
        <p:spPr>
          <a:xfrm>
            <a:off x="6236208"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OR-Tools MDCVRP çözümü</a:t>
            </a:r>
            <a:endParaRPr lang="en-US" sz="950" dirty="0"/>
          </a:p>
        </p:txBody>
      </p:sp>
      <p:sp>
        <p:nvSpPr>
          <p:cNvPr id="29" name="Text 23"/>
          <p:cNvSpPr/>
          <p:nvPr/>
        </p:nvSpPr>
        <p:spPr>
          <a:xfrm>
            <a:off x="7863840" y="2834640"/>
            <a:ext cx="201168" cy="548640"/>
          </a:xfrm>
          <a:prstGeom prst="rect">
            <a:avLst/>
          </a:prstGeom>
          <a:noFill/>
          <a:ln/>
        </p:spPr>
        <p:txBody>
          <a:bodyPr wrap="square" lIns="0" tIns="0" rIns="0" bIns="0" rtlCol="0" anchor="ctr"/>
          <a:lstStyle/>
          <a:p>
            <a:pPr marL="0" indent="0" algn="ctr">
              <a:buNone/>
            </a:pPr>
            <a:r>
              <a:rPr lang="en-US" sz="2600" b="1" dirty="0">
                <a:solidFill>
                  <a:srgbClr val="C8902B"/>
                </a:solidFill>
                <a:latin typeface="Calibri" pitchFamily="34" charset="0"/>
                <a:ea typeface="Calibri" pitchFamily="34" charset="-122"/>
                <a:cs typeface="Calibri" pitchFamily="34" charset="-120"/>
              </a:rPr>
              <a:t>›</a:t>
            </a:r>
            <a:endParaRPr lang="en-US" sz="2600" dirty="0"/>
          </a:p>
        </p:txBody>
      </p:sp>
      <p:sp>
        <p:nvSpPr>
          <p:cNvPr id="30" name="Shape 24"/>
          <p:cNvSpPr/>
          <p:nvPr/>
        </p:nvSpPr>
        <p:spPr>
          <a:xfrm>
            <a:off x="8010144"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1" name="Shape 25"/>
          <p:cNvSpPr/>
          <p:nvPr/>
        </p:nvSpPr>
        <p:spPr>
          <a:xfrm>
            <a:off x="8522208"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2" name="Image 4" descr="preencoded.png"/>
          <p:cNvPicPr>
            <a:picLocks noChangeAspect="1"/>
          </p:cNvPicPr>
          <p:nvPr/>
        </p:nvPicPr>
        <p:blipFill>
          <a:blip r:embed="rId7"/>
          <a:stretch>
            <a:fillRect/>
          </a:stretch>
        </p:blipFill>
        <p:spPr>
          <a:xfrm>
            <a:off x="8712403" y="2750515"/>
            <a:ext cx="351130" cy="351130"/>
          </a:xfrm>
          <a:prstGeom prst="rect">
            <a:avLst/>
          </a:prstGeom>
        </p:spPr>
      </p:pic>
      <p:sp>
        <p:nvSpPr>
          <p:cNvPr id="33" name="Text 26"/>
          <p:cNvSpPr/>
          <p:nvPr/>
        </p:nvSpPr>
        <p:spPr>
          <a:xfrm>
            <a:off x="8101584"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Maliyet Analizi</a:t>
            </a:r>
            <a:endParaRPr lang="en-US" sz="1250" dirty="0"/>
          </a:p>
        </p:txBody>
      </p:sp>
      <p:sp>
        <p:nvSpPr>
          <p:cNvPr id="34" name="Text 27"/>
          <p:cNvSpPr/>
          <p:nvPr/>
        </p:nvSpPr>
        <p:spPr>
          <a:xfrm>
            <a:off x="8101584"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In-house / outsource / hibrit</a:t>
            </a:r>
            <a:endParaRPr lang="en-US" sz="950" dirty="0"/>
          </a:p>
        </p:txBody>
      </p:sp>
      <p:sp>
        <p:nvSpPr>
          <p:cNvPr id="35" name="Text 28"/>
          <p:cNvSpPr/>
          <p:nvPr/>
        </p:nvSpPr>
        <p:spPr>
          <a:xfrm>
            <a:off x="9729216" y="2834640"/>
            <a:ext cx="201168" cy="548640"/>
          </a:xfrm>
          <a:prstGeom prst="rect">
            <a:avLst/>
          </a:prstGeom>
          <a:noFill/>
          <a:ln/>
        </p:spPr>
        <p:txBody>
          <a:bodyPr wrap="square" lIns="0" tIns="0" rIns="0" bIns="0" rtlCol="0" anchor="ctr"/>
          <a:lstStyle/>
          <a:p>
            <a:pPr marL="0" indent="0" algn="ctr">
              <a:buNone/>
            </a:pPr>
            <a:r>
              <a:rPr lang="en-US" sz="2600" b="1" dirty="0">
                <a:solidFill>
                  <a:srgbClr val="C8902B"/>
                </a:solidFill>
                <a:latin typeface="Calibri" pitchFamily="34" charset="0"/>
                <a:ea typeface="Calibri" pitchFamily="34" charset="-122"/>
                <a:cs typeface="Calibri" pitchFamily="34" charset="-120"/>
              </a:rPr>
              <a:t>›</a:t>
            </a:r>
            <a:endParaRPr lang="en-US" sz="2600" dirty="0"/>
          </a:p>
        </p:txBody>
      </p:sp>
      <p:sp>
        <p:nvSpPr>
          <p:cNvPr id="36" name="Shape 29"/>
          <p:cNvSpPr/>
          <p:nvPr/>
        </p:nvSpPr>
        <p:spPr>
          <a:xfrm>
            <a:off x="9875520" y="2331720"/>
            <a:ext cx="1755648" cy="1874520"/>
          </a:xfrm>
          <a:prstGeom prst="roundRect">
            <a:avLst>
              <a:gd name="adj" fmla="val 4167"/>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7" name="Shape 30"/>
          <p:cNvSpPr/>
          <p:nvPr/>
        </p:nvSpPr>
        <p:spPr>
          <a:xfrm>
            <a:off x="10387584" y="256032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8" name="Image 5" descr="preencoded.png"/>
          <p:cNvPicPr>
            <a:picLocks noChangeAspect="1"/>
          </p:cNvPicPr>
          <p:nvPr/>
        </p:nvPicPr>
        <p:blipFill>
          <a:blip r:embed="rId8"/>
          <a:stretch>
            <a:fillRect/>
          </a:stretch>
        </p:blipFill>
        <p:spPr>
          <a:xfrm>
            <a:off x="10577779" y="2750515"/>
            <a:ext cx="351130" cy="351130"/>
          </a:xfrm>
          <a:prstGeom prst="rect">
            <a:avLst/>
          </a:prstGeom>
        </p:spPr>
      </p:pic>
      <p:sp>
        <p:nvSpPr>
          <p:cNvPr id="39" name="Text 31"/>
          <p:cNvSpPr/>
          <p:nvPr/>
        </p:nvSpPr>
        <p:spPr>
          <a:xfrm>
            <a:off x="9966960" y="3355848"/>
            <a:ext cx="1572768" cy="365760"/>
          </a:xfrm>
          <a:prstGeom prst="rect">
            <a:avLst/>
          </a:prstGeom>
          <a:noFill/>
          <a:ln/>
        </p:spPr>
        <p:txBody>
          <a:bodyPr wrap="square" lIns="0" tIns="0" rIns="0" bIns="0" rtlCol="0" anchor="ctr"/>
          <a:lstStyle/>
          <a:p>
            <a:pPr marL="0" indent="0" algn="ctr">
              <a:buNone/>
            </a:pPr>
            <a:r>
              <a:rPr lang="en-US" sz="1250" b="1" dirty="0">
                <a:solidFill>
                  <a:srgbClr val="2B2024"/>
                </a:solidFill>
                <a:latin typeface="Calibri" pitchFamily="34" charset="0"/>
                <a:ea typeface="Calibri" pitchFamily="34" charset="-122"/>
                <a:cs typeface="Calibri" pitchFamily="34" charset="-120"/>
              </a:rPr>
              <a:t>Karar Desteği</a:t>
            </a:r>
            <a:endParaRPr lang="en-US" sz="1250" dirty="0"/>
          </a:p>
        </p:txBody>
      </p:sp>
      <p:sp>
        <p:nvSpPr>
          <p:cNvPr id="40" name="Text 32"/>
          <p:cNvSpPr/>
          <p:nvPr/>
        </p:nvSpPr>
        <p:spPr>
          <a:xfrm>
            <a:off x="9966960" y="3703320"/>
            <a:ext cx="1572768" cy="457200"/>
          </a:xfrm>
          <a:prstGeom prst="rect">
            <a:avLst/>
          </a:prstGeom>
          <a:noFill/>
          <a:ln/>
        </p:spPr>
        <p:txBody>
          <a:bodyPr wrap="square" lIns="0" tIns="0" rIns="0" bIns="0" rtlCol="0" anchor="ctr"/>
          <a:lstStyle/>
          <a:p>
            <a:pPr marL="0" indent="0" algn="ctr">
              <a:buNone/>
            </a:pPr>
            <a:r>
              <a:rPr lang="en-US" sz="950" dirty="0">
                <a:solidFill>
                  <a:srgbClr val="7A6B6F"/>
                </a:solidFill>
                <a:latin typeface="Calibri" pitchFamily="34" charset="0"/>
                <a:ea typeface="Calibri" pitchFamily="34" charset="-122"/>
                <a:cs typeface="Calibri" pitchFamily="34" charset="-120"/>
              </a:rPr>
              <a:t>Yatırım geri dönüşü + duyarlılık</a:t>
            </a:r>
            <a:endParaRPr lang="en-US" sz="950" dirty="0"/>
          </a:p>
        </p:txBody>
      </p:sp>
      <p:sp>
        <p:nvSpPr>
          <p:cNvPr id="41" name="Shape 33"/>
          <p:cNvSpPr/>
          <p:nvPr/>
        </p:nvSpPr>
        <p:spPr>
          <a:xfrm>
            <a:off x="548640" y="4526280"/>
            <a:ext cx="11064240" cy="1463040"/>
          </a:xfrm>
          <a:prstGeom prst="roundRect">
            <a:avLst>
              <a:gd name="adj" fmla="val 5000"/>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42" name="Shape 34"/>
          <p:cNvSpPr/>
          <p:nvPr/>
        </p:nvSpPr>
        <p:spPr>
          <a:xfrm>
            <a:off x="868680" y="4892040"/>
            <a:ext cx="731520" cy="731520"/>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43" name="Image 6" descr="preencoded.png"/>
          <p:cNvPicPr>
            <a:picLocks noChangeAspect="1"/>
          </p:cNvPicPr>
          <p:nvPr/>
        </p:nvPicPr>
        <p:blipFill>
          <a:blip r:embed="rId9"/>
          <a:stretch>
            <a:fillRect/>
          </a:stretch>
        </p:blipFill>
        <p:spPr>
          <a:xfrm>
            <a:off x="1058875" y="5082235"/>
            <a:ext cx="351130" cy="351130"/>
          </a:xfrm>
          <a:prstGeom prst="rect">
            <a:avLst/>
          </a:prstGeom>
        </p:spPr>
      </p:pic>
      <p:sp>
        <p:nvSpPr>
          <p:cNvPr id="44" name="Text 35"/>
          <p:cNvSpPr/>
          <p:nvPr/>
        </p:nvSpPr>
        <p:spPr>
          <a:xfrm>
            <a:off x="1783080" y="4663440"/>
            <a:ext cx="41148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Sistemin Amacı (SMART)</a:t>
            </a:r>
            <a:endParaRPr lang="en-US" sz="1400" dirty="0"/>
          </a:p>
        </p:txBody>
      </p:sp>
      <p:sp>
        <p:nvSpPr>
          <p:cNvPr id="45" name="Text 36"/>
          <p:cNvSpPr/>
          <p:nvPr/>
        </p:nvSpPr>
        <p:spPr>
          <a:xfrm>
            <a:off x="1783080" y="5029200"/>
            <a:ext cx="5760720" cy="868680"/>
          </a:xfrm>
          <a:prstGeom prst="rect">
            <a:avLst/>
          </a:prstGeom>
          <a:noFill/>
          <a:ln/>
        </p:spPr>
        <p:txBody>
          <a:bodyPr wrap="square" lIns="0" tIns="0" rIns="0" bIns="0" rtlCol="0" anchor="t"/>
          <a:lstStyle/>
          <a:p>
            <a:pPr marL="0" indent="0">
              <a:lnSpc>
                <a:spcPct val="105000"/>
              </a:lnSpc>
              <a:buNone/>
            </a:pPr>
            <a:r>
              <a:rPr lang="en-US" sz="1250" dirty="0">
                <a:solidFill>
                  <a:srgbClr val="F4ECE2"/>
                </a:solidFill>
                <a:latin typeface="Calibri" pitchFamily="34" charset="0"/>
                <a:ea typeface="Calibri" pitchFamily="34" charset="-122"/>
                <a:cs typeface="Calibri" pitchFamily="34" charset="-120"/>
              </a:rPr>
              <a:t>Pilot mağaza ağı için </a:t>
            </a:r>
            <a:r>
              <a:rPr lang="en-US" sz="1250" b="1" dirty="0">
                <a:solidFill>
                  <a:srgbClr val="FFFFFF"/>
                </a:solidFill>
                <a:latin typeface="Calibri" pitchFamily="34" charset="0"/>
                <a:ea typeface="Calibri" pitchFamily="34" charset="-122"/>
                <a:cs typeface="Calibri" pitchFamily="34" charset="-120"/>
              </a:rPr>
              <a:t>rota optimizasyonu ile outsource–in-house maliyeti</a:t>
            </a:r>
            <a:r>
              <a:rPr lang="en-US" sz="1250" dirty="0">
                <a:solidFill>
                  <a:srgbClr val="F4ECE2"/>
                </a:solidFill>
                <a:latin typeface="Calibri" pitchFamily="34" charset="0"/>
                <a:ea typeface="Calibri" pitchFamily="34" charset="-122"/>
                <a:cs typeface="Calibri" pitchFamily="34" charset="-120"/>
              </a:rPr>
              <a:t> karşılaştırarak </a:t>
            </a:r>
            <a:r>
              <a:rPr lang="en-US" sz="1250" b="1" dirty="0">
                <a:solidFill>
                  <a:srgbClr val="FFFFFF"/>
                </a:solidFill>
                <a:latin typeface="Calibri" pitchFamily="34" charset="0"/>
                <a:ea typeface="Calibri" pitchFamily="34" charset="-122"/>
                <a:cs typeface="Calibri" pitchFamily="34" charset="-120"/>
              </a:rPr>
              <a:t>hangi mağazaların şirket bünyesinde yürütülmesinin avantajlı olduğuna karar desteği sağlamak.</a:t>
            </a:r>
            <a:endParaRPr lang="en-US" sz="1250" dirty="0"/>
          </a:p>
        </p:txBody>
      </p:sp>
      <p:sp>
        <p:nvSpPr>
          <p:cNvPr id="46" name="Text 37"/>
          <p:cNvSpPr/>
          <p:nvPr/>
        </p:nvSpPr>
        <p:spPr>
          <a:xfrm>
            <a:off x="7863840" y="4800600"/>
            <a:ext cx="1234440" cy="1005840"/>
          </a:xfrm>
          <a:prstGeom prst="rect">
            <a:avLst/>
          </a:prstGeom>
          <a:noFill/>
          <a:ln/>
        </p:spPr>
        <p:txBody>
          <a:bodyPr wrap="square" lIns="0" tIns="0" rIns="0" bIns="0" rtlCol="0" anchor="ctr"/>
          <a:lstStyle/>
          <a:p>
            <a:pPr marL="0" indent="0" algn="ctr">
              <a:buNone/>
            </a:pPr>
            <a:r>
              <a:rPr lang="en-US" sz="1250" b="1" dirty="0">
                <a:solidFill>
                  <a:srgbClr val="C8902B"/>
                </a:solidFill>
                <a:latin typeface="Calibri" pitchFamily="34" charset="0"/>
                <a:ea typeface="Calibri" pitchFamily="34" charset="-122"/>
                <a:cs typeface="Calibri" pitchFamily="34" charset="-120"/>
              </a:rPr>
              <a:t>Toplam Km</a:t>
            </a:r>
            <a:endParaRPr lang="en-US" sz="1250" dirty="0"/>
          </a:p>
          <a:p>
            <a:pPr marL="0" indent="0" algn="ctr">
              <a:buNone/>
            </a:pPr>
            <a:r>
              <a:rPr lang="en-US" sz="850" dirty="0">
                <a:solidFill>
                  <a:srgbClr val="F4ECE2"/>
                </a:solidFill>
                <a:latin typeface="Calibri" pitchFamily="34" charset="0"/>
                <a:ea typeface="Calibri" pitchFamily="34" charset="-122"/>
                <a:cs typeface="Calibri" pitchFamily="34" charset="-120"/>
              </a:rPr>
              <a:t>Filo verimliliği</a:t>
            </a:r>
            <a:endParaRPr lang="en-US" sz="1250" dirty="0"/>
          </a:p>
        </p:txBody>
      </p:sp>
      <p:sp>
        <p:nvSpPr>
          <p:cNvPr id="47" name="Text 38"/>
          <p:cNvSpPr/>
          <p:nvPr/>
        </p:nvSpPr>
        <p:spPr>
          <a:xfrm>
            <a:off x="9144000" y="4800600"/>
            <a:ext cx="1234440" cy="1005840"/>
          </a:xfrm>
          <a:prstGeom prst="rect">
            <a:avLst/>
          </a:prstGeom>
          <a:noFill/>
          <a:ln/>
        </p:spPr>
        <p:txBody>
          <a:bodyPr wrap="square" lIns="0" tIns="0" rIns="0" bIns="0" rtlCol="0" anchor="ctr"/>
          <a:lstStyle/>
          <a:p>
            <a:pPr marL="0" indent="0" algn="ctr">
              <a:buNone/>
            </a:pPr>
            <a:r>
              <a:rPr lang="en-US" sz="1250" b="1" dirty="0">
                <a:solidFill>
                  <a:srgbClr val="C8902B"/>
                </a:solidFill>
                <a:latin typeface="Calibri" pitchFamily="34" charset="0"/>
                <a:ea typeface="Calibri" pitchFamily="34" charset="-122"/>
                <a:cs typeface="Calibri" pitchFamily="34" charset="-120"/>
              </a:rPr>
              <a:t>TL/gün</a:t>
            </a:r>
            <a:endParaRPr lang="en-US" sz="1250" dirty="0"/>
          </a:p>
          <a:p>
            <a:pPr marL="0" indent="0" algn="ctr">
              <a:buNone/>
            </a:pPr>
            <a:r>
              <a:rPr lang="en-US" sz="850" dirty="0">
                <a:solidFill>
                  <a:srgbClr val="F4ECE2"/>
                </a:solidFill>
                <a:latin typeface="Calibri" pitchFamily="34" charset="0"/>
                <a:ea typeface="Calibri" pitchFamily="34" charset="-122"/>
                <a:cs typeface="Calibri" pitchFamily="34" charset="-120"/>
              </a:rPr>
              <a:t>Maliyet farkı</a:t>
            </a:r>
            <a:endParaRPr lang="en-US" sz="1250" dirty="0"/>
          </a:p>
        </p:txBody>
      </p:sp>
      <p:sp>
        <p:nvSpPr>
          <p:cNvPr id="48" name="Text 39"/>
          <p:cNvSpPr/>
          <p:nvPr/>
        </p:nvSpPr>
        <p:spPr>
          <a:xfrm>
            <a:off x="10424160" y="4800600"/>
            <a:ext cx="1234440" cy="1005840"/>
          </a:xfrm>
          <a:prstGeom prst="rect">
            <a:avLst/>
          </a:prstGeom>
          <a:noFill/>
          <a:ln/>
        </p:spPr>
        <p:txBody>
          <a:bodyPr wrap="square" lIns="0" tIns="0" rIns="0" bIns="0" rtlCol="0" anchor="ctr"/>
          <a:lstStyle/>
          <a:p>
            <a:pPr marL="0" indent="0" algn="ctr">
              <a:buNone/>
            </a:pPr>
            <a:r>
              <a:rPr lang="en-US" sz="1250" b="1" dirty="0">
                <a:solidFill>
                  <a:srgbClr val="C8902B"/>
                </a:solidFill>
                <a:latin typeface="Calibri" pitchFamily="34" charset="0"/>
                <a:ea typeface="Calibri" pitchFamily="34" charset="-122"/>
                <a:cs typeface="Calibri" pitchFamily="34" charset="-120"/>
              </a:rPr>
              <a:t>Geri Dönüş</a:t>
            </a:r>
            <a:endParaRPr lang="en-US" sz="1250" dirty="0"/>
          </a:p>
          <a:p>
            <a:pPr marL="0" indent="0" algn="ctr">
              <a:buNone/>
            </a:pPr>
            <a:r>
              <a:rPr lang="en-US" sz="850" dirty="0">
                <a:solidFill>
                  <a:srgbClr val="F4ECE2"/>
                </a:solidFill>
                <a:latin typeface="Calibri" pitchFamily="34" charset="0"/>
                <a:ea typeface="Calibri" pitchFamily="34" charset="-122"/>
                <a:cs typeface="Calibri" pitchFamily="34" charset="-120"/>
              </a:rPr>
              <a:t>Yatırım süresi</a:t>
            </a:r>
            <a:endParaRPr lang="en-US" sz="1250" dirty="0"/>
          </a:p>
        </p:txBody>
      </p:sp>
      <p:sp>
        <p:nvSpPr>
          <p:cNvPr id="49" name="Text 40"/>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07</a:t>
            </a:r>
            <a:endParaRPr lang="en-US" sz="1000" dirty="0"/>
          </a:p>
        </p:txBody>
      </p:sp>
      <p:sp>
        <p:nvSpPr>
          <p:cNvPr id="50" name="Text 41"/>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YÖNTEM</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Neden OR-Tools? Hangi Parametreler?</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Sezgisel ve meta-sezgisel yöntemleri tek çatı altında toplamak</a:t>
            </a:r>
            <a:endParaRPr lang="en-US" sz="1400" dirty="0"/>
          </a:p>
        </p:txBody>
      </p:sp>
      <p:sp>
        <p:nvSpPr>
          <p:cNvPr id="6" name="Shape 4"/>
          <p:cNvSpPr/>
          <p:nvPr/>
        </p:nvSpPr>
        <p:spPr>
          <a:xfrm>
            <a:off x="548640" y="2240280"/>
            <a:ext cx="5349240" cy="3749040"/>
          </a:xfrm>
          <a:prstGeom prst="roundRect">
            <a:avLst>
              <a:gd name="adj" fmla="val 1951"/>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7" name="Shape 5"/>
          <p:cNvSpPr/>
          <p:nvPr/>
        </p:nvSpPr>
        <p:spPr>
          <a:xfrm>
            <a:off x="822960" y="2514600"/>
            <a:ext cx="685800" cy="685800"/>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1001268" y="2692908"/>
            <a:ext cx="329184" cy="329184"/>
          </a:xfrm>
          <a:prstGeom prst="rect">
            <a:avLst/>
          </a:prstGeom>
        </p:spPr>
      </p:pic>
      <p:sp>
        <p:nvSpPr>
          <p:cNvPr id="9" name="Text 6"/>
          <p:cNvSpPr/>
          <p:nvPr/>
        </p:nvSpPr>
        <p:spPr>
          <a:xfrm>
            <a:off x="1627632" y="2560320"/>
            <a:ext cx="4023360" cy="548640"/>
          </a:xfrm>
          <a:prstGeom prst="rect">
            <a:avLst/>
          </a:prstGeom>
          <a:noFill/>
          <a:ln/>
        </p:spPr>
        <p:txBody>
          <a:bodyPr wrap="square" lIns="0" tIns="0" rIns="0" bIns="0" rtlCol="0" anchor="ctr"/>
          <a:lstStyle/>
          <a:p>
            <a:pPr marL="0" indent="0">
              <a:buNone/>
            </a:pPr>
            <a:r>
              <a:rPr lang="en-US" sz="1800" b="1" dirty="0">
                <a:solidFill>
                  <a:srgbClr val="6D2E46"/>
                </a:solidFill>
                <a:latin typeface="Cambria" pitchFamily="34" charset="0"/>
                <a:ea typeface="Cambria" pitchFamily="34" charset="-122"/>
                <a:cs typeface="Cambria" pitchFamily="34" charset="-120"/>
              </a:rPr>
              <a:t>Neden OR-Tools?</a:t>
            </a:r>
            <a:endParaRPr lang="en-US" sz="1800" dirty="0"/>
          </a:p>
        </p:txBody>
      </p:sp>
      <p:sp>
        <p:nvSpPr>
          <p:cNvPr id="10" name="Text 7"/>
          <p:cNvSpPr/>
          <p:nvPr/>
        </p:nvSpPr>
        <p:spPr>
          <a:xfrm>
            <a:off x="914400" y="3383280"/>
            <a:ext cx="4846320" cy="2468880"/>
          </a:xfrm>
          <a:prstGeom prst="rect">
            <a:avLst/>
          </a:prstGeom>
          <a:noFill/>
          <a:ln/>
        </p:spPr>
        <p:txBody>
          <a:bodyPr wrap="square" lIns="0" tIns="0" rIns="0" bIns="0" rtlCol="0" anchor="ctr"/>
          <a:lstStyle/>
          <a:p>
            <a:pPr marL="342900" indent="-342900">
              <a:spcAft>
                <a:spcPts val="1300"/>
              </a:spcAft>
              <a:buSzPct val="100000"/>
              <a:buChar char="•"/>
            </a:pPr>
            <a:r>
              <a:rPr lang="en-US" sz="1300" dirty="0">
                <a:solidFill>
                  <a:srgbClr val="2B2024"/>
                </a:solidFill>
                <a:latin typeface="Calibri" pitchFamily="34" charset="0"/>
                <a:ea typeface="Calibri" pitchFamily="34" charset="-122"/>
                <a:cs typeface="Calibri" pitchFamily="34" charset="-120"/>
              </a:rPr>
              <a:t>Çok depolu yapıyı ve kapasite kısıtlarını doğal olarak modeller</a:t>
            </a:r>
            <a:endParaRPr lang="en-US" sz="1300" dirty="0"/>
          </a:p>
          <a:p>
            <a:pPr marL="342900" indent="-342900">
              <a:spcAft>
                <a:spcPts val="1300"/>
              </a:spcAft>
              <a:buSzPct val="100000"/>
              <a:buChar char="•"/>
            </a:pPr>
            <a:r>
              <a:rPr lang="en-US" sz="1300" dirty="0">
                <a:solidFill>
                  <a:srgbClr val="2B2024"/>
                </a:solidFill>
                <a:latin typeface="Calibri" pitchFamily="34" charset="0"/>
                <a:ea typeface="Calibri" pitchFamily="34" charset="-122"/>
                <a:cs typeface="Calibri" pitchFamily="34" charset="-120"/>
              </a:rPr>
              <a:t>SAVINGS ile hızlı, kaliteli başlangıç çözümü üretir</a:t>
            </a:r>
            <a:endParaRPr lang="en-US" sz="1300" dirty="0"/>
          </a:p>
          <a:p>
            <a:pPr marL="342900" indent="-342900">
              <a:spcAft>
                <a:spcPts val="1300"/>
              </a:spcAft>
              <a:buSzPct val="100000"/>
              <a:buChar char="•"/>
            </a:pPr>
            <a:r>
              <a:rPr lang="en-US" sz="1300" dirty="0">
                <a:solidFill>
                  <a:srgbClr val="2B2024"/>
                </a:solidFill>
                <a:latin typeface="Calibri" pitchFamily="34" charset="0"/>
                <a:ea typeface="Calibri" pitchFamily="34" charset="-122"/>
                <a:cs typeface="Calibri" pitchFamily="34" charset="-120"/>
              </a:rPr>
              <a:t>Guided Local Search ile yerel optimumdan kaçınır</a:t>
            </a:r>
            <a:endParaRPr lang="en-US" sz="1300" dirty="0"/>
          </a:p>
          <a:p>
            <a:pPr marL="342900" indent="-342900">
              <a:spcAft>
                <a:spcPts val="1300"/>
              </a:spcAft>
              <a:buSzPct val="100000"/>
              <a:buChar char="•"/>
            </a:pPr>
            <a:r>
              <a:rPr lang="en-US" sz="1300" dirty="0">
                <a:solidFill>
                  <a:srgbClr val="2B2024"/>
                </a:solidFill>
                <a:latin typeface="Calibri" pitchFamily="34" charset="0"/>
                <a:ea typeface="Calibri" pitchFamily="34" charset="-122"/>
                <a:cs typeface="Calibri" pitchFamily="34" charset="-120"/>
              </a:rPr>
              <a:t>Açık kaynak, olgun ve endüstride yaygın kullanılan bir kütüphane</a:t>
            </a:r>
            <a:endParaRPr lang="en-US" sz="1300" dirty="0"/>
          </a:p>
        </p:txBody>
      </p:sp>
      <p:sp>
        <p:nvSpPr>
          <p:cNvPr id="11" name="Text 8"/>
          <p:cNvSpPr/>
          <p:nvPr/>
        </p:nvSpPr>
        <p:spPr>
          <a:xfrm>
            <a:off x="6263640" y="2286000"/>
            <a:ext cx="5303520" cy="41148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Modele Giren Parametreler</a:t>
            </a:r>
            <a:endParaRPr lang="en-US" sz="1500" dirty="0"/>
          </a:p>
        </p:txBody>
      </p:sp>
      <p:sp>
        <p:nvSpPr>
          <p:cNvPr id="12" name="Shape 9"/>
          <p:cNvSpPr/>
          <p:nvPr/>
        </p:nvSpPr>
        <p:spPr>
          <a:xfrm>
            <a:off x="6263640" y="2788920"/>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3" name="Shape 10"/>
          <p:cNvSpPr/>
          <p:nvPr/>
        </p:nvSpPr>
        <p:spPr>
          <a:xfrm>
            <a:off x="6446520" y="3044952"/>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4" name="Image 1" descr="preencoded.png"/>
          <p:cNvPicPr>
            <a:picLocks noChangeAspect="1"/>
          </p:cNvPicPr>
          <p:nvPr/>
        </p:nvPicPr>
        <p:blipFill>
          <a:blip r:embed="rId4"/>
          <a:stretch>
            <a:fillRect/>
          </a:stretch>
        </p:blipFill>
        <p:spPr>
          <a:xfrm>
            <a:off x="6589166" y="3187598"/>
            <a:ext cx="263347" cy="263347"/>
          </a:xfrm>
          <a:prstGeom prst="rect">
            <a:avLst/>
          </a:prstGeom>
        </p:spPr>
      </p:pic>
      <p:sp>
        <p:nvSpPr>
          <p:cNvPr id="15" name="Text 11"/>
          <p:cNvSpPr/>
          <p:nvPr/>
        </p:nvSpPr>
        <p:spPr>
          <a:xfrm>
            <a:off x="7104888" y="2935224"/>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Araç Kapasitesi</a:t>
            </a:r>
            <a:endParaRPr lang="en-US" sz="1150" dirty="0"/>
          </a:p>
        </p:txBody>
      </p:sp>
      <p:sp>
        <p:nvSpPr>
          <p:cNvPr id="16" name="Text 12"/>
          <p:cNvSpPr/>
          <p:nvPr/>
        </p:nvSpPr>
        <p:spPr>
          <a:xfrm>
            <a:off x="7104888" y="3355848"/>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3.000 koli</a:t>
            </a:r>
            <a:endParaRPr lang="en-US" sz="900" dirty="0"/>
          </a:p>
        </p:txBody>
      </p:sp>
      <p:sp>
        <p:nvSpPr>
          <p:cNvPr id="17" name="Shape 13"/>
          <p:cNvSpPr/>
          <p:nvPr/>
        </p:nvSpPr>
        <p:spPr>
          <a:xfrm>
            <a:off x="8997696" y="2788920"/>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8" name="Shape 14"/>
          <p:cNvSpPr/>
          <p:nvPr/>
        </p:nvSpPr>
        <p:spPr>
          <a:xfrm>
            <a:off x="9180576" y="3044952"/>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9" name="Image 2" descr="preencoded.png"/>
          <p:cNvPicPr>
            <a:picLocks noChangeAspect="1"/>
          </p:cNvPicPr>
          <p:nvPr/>
        </p:nvPicPr>
        <p:blipFill>
          <a:blip r:embed="rId5"/>
          <a:stretch>
            <a:fillRect/>
          </a:stretch>
        </p:blipFill>
        <p:spPr>
          <a:xfrm>
            <a:off x="9323222" y="3187598"/>
            <a:ext cx="263347" cy="263347"/>
          </a:xfrm>
          <a:prstGeom prst="rect">
            <a:avLst/>
          </a:prstGeom>
        </p:spPr>
      </p:pic>
      <p:sp>
        <p:nvSpPr>
          <p:cNvPr id="20" name="Text 15"/>
          <p:cNvSpPr/>
          <p:nvPr/>
        </p:nvSpPr>
        <p:spPr>
          <a:xfrm>
            <a:off x="9838944" y="2935224"/>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Mağaza Talebi</a:t>
            </a:r>
            <a:endParaRPr lang="en-US" sz="1150" dirty="0"/>
          </a:p>
        </p:txBody>
      </p:sp>
      <p:sp>
        <p:nvSpPr>
          <p:cNvPr id="21" name="Text 16"/>
          <p:cNvSpPr/>
          <p:nvPr/>
        </p:nvSpPr>
        <p:spPr>
          <a:xfrm>
            <a:off x="9838944" y="3355848"/>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150 koli/gün</a:t>
            </a:r>
            <a:endParaRPr lang="en-US" sz="900" dirty="0"/>
          </a:p>
        </p:txBody>
      </p:sp>
      <p:sp>
        <p:nvSpPr>
          <p:cNvPr id="22" name="Shape 17"/>
          <p:cNvSpPr/>
          <p:nvPr/>
        </p:nvSpPr>
        <p:spPr>
          <a:xfrm>
            <a:off x="6263640" y="4014216"/>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3" name="Shape 18"/>
          <p:cNvSpPr/>
          <p:nvPr/>
        </p:nvSpPr>
        <p:spPr>
          <a:xfrm>
            <a:off x="6446520" y="4270248"/>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24" name="Image 3" descr="preencoded.png"/>
          <p:cNvPicPr>
            <a:picLocks noChangeAspect="1"/>
          </p:cNvPicPr>
          <p:nvPr/>
        </p:nvPicPr>
        <p:blipFill>
          <a:blip r:embed="rId6"/>
          <a:stretch>
            <a:fillRect/>
          </a:stretch>
        </p:blipFill>
        <p:spPr>
          <a:xfrm>
            <a:off x="6589166" y="4412894"/>
            <a:ext cx="263347" cy="263347"/>
          </a:xfrm>
          <a:prstGeom prst="rect">
            <a:avLst/>
          </a:prstGeom>
        </p:spPr>
      </p:pic>
      <p:sp>
        <p:nvSpPr>
          <p:cNvPr id="25" name="Text 19"/>
          <p:cNvSpPr/>
          <p:nvPr/>
        </p:nvSpPr>
        <p:spPr>
          <a:xfrm>
            <a:off x="7104888" y="4160520"/>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Servis Süresi</a:t>
            </a:r>
            <a:endParaRPr lang="en-US" sz="1150" dirty="0"/>
          </a:p>
        </p:txBody>
      </p:sp>
      <p:sp>
        <p:nvSpPr>
          <p:cNvPr id="26" name="Text 20"/>
          <p:cNvSpPr/>
          <p:nvPr/>
        </p:nvSpPr>
        <p:spPr>
          <a:xfrm>
            <a:off x="7104888" y="4581144"/>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15 dk/mağaza</a:t>
            </a:r>
            <a:endParaRPr lang="en-US" sz="900" dirty="0"/>
          </a:p>
        </p:txBody>
      </p:sp>
      <p:sp>
        <p:nvSpPr>
          <p:cNvPr id="27" name="Shape 21"/>
          <p:cNvSpPr/>
          <p:nvPr/>
        </p:nvSpPr>
        <p:spPr>
          <a:xfrm>
            <a:off x="8997696" y="4014216"/>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8" name="Shape 22"/>
          <p:cNvSpPr/>
          <p:nvPr/>
        </p:nvSpPr>
        <p:spPr>
          <a:xfrm>
            <a:off x="9180576" y="4270248"/>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29" name="Image 4" descr="preencoded.png"/>
          <p:cNvPicPr>
            <a:picLocks noChangeAspect="1"/>
          </p:cNvPicPr>
          <p:nvPr/>
        </p:nvPicPr>
        <p:blipFill>
          <a:blip r:embed="rId7"/>
          <a:stretch>
            <a:fillRect/>
          </a:stretch>
        </p:blipFill>
        <p:spPr>
          <a:xfrm>
            <a:off x="9323222" y="4412894"/>
            <a:ext cx="263347" cy="263347"/>
          </a:xfrm>
          <a:prstGeom prst="rect">
            <a:avLst/>
          </a:prstGeom>
        </p:spPr>
      </p:pic>
      <p:sp>
        <p:nvSpPr>
          <p:cNvPr id="30" name="Text 23"/>
          <p:cNvSpPr/>
          <p:nvPr/>
        </p:nvSpPr>
        <p:spPr>
          <a:xfrm>
            <a:off x="9838944" y="4160520"/>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Rota Süresi Limiti</a:t>
            </a:r>
            <a:endParaRPr lang="en-US" sz="1150" dirty="0"/>
          </a:p>
        </p:txBody>
      </p:sp>
      <p:sp>
        <p:nvSpPr>
          <p:cNvPr id="31" name="Text 24"/>
          <p:cNvSpPr/>
          <p:nvPr/>
        </p:nvSpPr>
        <p:spPr>
          <a:xfrm>
            <a:off x="9838944" y="4581144"/>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540 dk/gün</a:t>
            </a:r>
            <a:endParaRPr lang="en-US" sz="900" dirty="0"/>
          </a:p>
        </p:txBody>
      </p:sp>
      <p:sp>
        <p:nvSpPr>
          <p:cNvPr id="32" name="Shape 25"/>
          <p:cNvSpPr/>
          <p:nvPr/>
        </p:nvSpPr>
        <p:spPr>
          <a:xfrm>
            <a:off x="6263640" y="5239512"/>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3" name="Shape 26"/>
          <p:cNvSpPr/>
          <p:nvPr/>
        </p:nvSpPr>
        <p:spPr>
          <a:xfrm>
            <a:off x="6446520" y="5495544"/>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4" name="Image 5" descr="preencoded.png"/>
          <p:cNvPicPr>
            <a:picLocks noChangeAspect="1"/>
          </p:cNvPicPr>
          <p:nvPr/>
        </p:nvPicPr>
        <p:blipFill>
          <a:blip r:embed="rId8"/>
          <a:stretch>
            <a:fillRect/>
          </a:stretch>
        </p:blipFill>
        <p:spPr>
          <a:xfrm>
            <a:off x="6589166" y="5638190"/>
            <a:ext cx="263347" cy="263347"/>
          </a:xfrm>
          <a:prstGeom prst="rect">
            <a:avLst/>
          </a:prstGeom>
        </p:spPr>
      </p:pic>
      <p:sp>
        <p:nvSpPr>
          <p:cNvPr id="35" name="Text 27"/>
          <p:cNvSpPr/>
          <p:nvPr/>
        </p:nvSpPr>
        <p:spPr>
          <a:xfrm>
            <a:off x="7104888" y="5385816"/>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Mesafe Eşiği</a:t>
            </a:r>
            <a:endParaRPr lang="en-US" sz="1150" dirty="0"/>
          </a:p>
        </p:txBody>
      </p:sp>
      <p:sp>
        <p:nvSpPr>
          <p:cNvPr id="36" name="Text 28"/>
          <p:cNvSpPr/>
          <p:nvPr/>
        </p:nvSpPr>
        <p:spPr>
          <a:xfrm>
            <a:off x="7104888" y="5806440"/>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200 km</a:t>
            </a:r>
            <a:endParaRPr lang="en-US" sz="900" dirty="0"/>
          </a:p>
        </p:txBody>
      </p:sp>
      <p:sp>
        <p:nvSpPr>
          <p:cNvPr id="37" name="Shape 29"/>
          <p:cNvSpPr/>
          <p:nvPr/>
        </p:nvSpPr>
        <p:spPr>
          <a:xfrm>
            <a:off x="8997696" y="5239512"/>
            <a:ext cx="2587752" cy="1078992"/>
          </a:xfrm>
          <a:prstGeom prst="roundRect">
            <a:avLst>
              <a:gd name="adj" fmla="val 5932"/>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8" name="Shape 30"/>
          <p:cNvSpPr/>
          <p:nvPr/>
        </p:nvSpPr>
        <p:spPr>
          <a:xfrm>
            <a:off x="9180576" y="5495544"/>
            <a:ext cx="548640" cy="54864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9" name="Image 6" descr="preencoded.png"/>
          <p:cNvPicPr>
            <a:picLocks noChangeAspect="1"/>
          </p:cNvPicPr>
          <p:nvPr/>
        </p:nvPicPr>
        <p:blipFill>
          <a:blip r:embed="rId9"/>
          <a:stretch>
            <a:fillRect/>
          </a:stretch>
        </p:blipFill>
        <p:spPr>
          <a:xfrm>
            <a:off x="9323222" y="5638190"/>
            <a:ext cx="263347" cy="263347"/>
          </a:xfrm>
          <a:prstGeom prst="rect">
            <a:avLst/>
          </a:prstGeom>
        </p:spPr>
      </p:pic>
      <p:sp>
        <p:nvSpPr>
          <p:cNvPr id="40" name="Text 31"/>
          <p:cNvSpPr/>
          <p:nvPr/>
        </p:nvSpPr>
        <p:spPr>
          <a:xfrm>
            <a:off x="9838944" y="5385816"/>
            <a:ext cx="1627632" cy="457200"/>
          </a:xfrm>
          <a:prstGeom prst="rect">
            <a:avLst/>
          </a:prstGeom>
          <a:noFill/>
          <a:ln/>
        </p:spPr>
        <p:txBody>
          <a:bodyPr wrap="square" lIns="0" tIns="0" rIns="0" bIns="0" rtlCol="0" anchor="ctr"/>
          <a:lstStyle/>
          <a:p>
            <a:pPr marL="0" indent="0">
              <a:buNone/>
            </a:pPr>
            <a:r>
              <a:rPr lang="en-US" sz="1150" b="1" dirty="0">
                <a:solidFill>
                  <a:srgbClr val="2B2024"/>
                </a:solidFill>
                <a:latin typeface="Calibri" pitchFamily="34" charset="0"/>
                <a:ea typeface="Calibri" pitchFamily="34" charset="-122"/>
                <a:cs typeface="Calibri" pitchFamily="34" charset="-120"/>
              </a:rPr>
              <a:t>Çözüm Süresi</a:t>
            </a:r>
            <a:endParaRPr lang="en-US" sz="1150" dirty="0"/>
          </a:p>
        </p:txBody>
      </p:sp>
      <p:sp>
        <p:nvSpPr>
          <p:cNvPr id="41" name="Text 32"/>
          <p:cNvSpPr/>
          <p:nvPr/>
        </p:nvSpPr>
        <p:spPr>
          <a:xfrm>
            <a:off x="9838944" y="5806440"/>
            <a:ext cx="1627632" cy="365760"/>
          </a:xfrm>
          <a:prstGeom prst="rect">
            <a:avLst/>
          </a:prstGeom>
          <a:noFill/>
          <a:ln/>
        </p:spPr>
        <p:txBody>
          <a:bodyPr wrap="square" lIns="0" tIns="0" rIns="0" bIns="0" rtlCol="0" anchor="ctr"/>
          <a:lstStyle/>
          <a:p>
            <a:pPr marL="0" indent="0">
              <a:buNone/>
            </a:pPr>
            <a:r>
              <a:rPr lang="en-US" sz="900" dirty="0">
                <a:solidFill>
                  <a:srgbClr val="7A6B6F"/>
                </a:solidFill>
                <a:latin typeface="Calibri" pitchFamily="34" charset="0"/>
                <a:ea typeface="Calibri" pitchFamily="34" charset="-122"/>
                <a:cs typeface="Calibri" pitchFamily="34" charset="-120"/>
              </a:rPr>
              <a:t>60 saniye</a:t>
            </a:r>
            <a:endParaRPr lang="en-US" sz="900" dirty="0"/>
          </a:p>
        </p:txBody>
      </p:sp>
      <p:sp>
        <p:nvSpPr>
          <p:cNvPr id="42" name="Text 33"/>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08</a:t>
            </a:r>
            <a:endParaRPr lang="en-US" sz="1000" dirty="0"/>
          </a:p>
        </p:txBody>
      </p:sp>
      <p:sp>
        <p:nvSpPr>
          <p:cNvPr id="43" name="Text 34"/>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pic>
        <p:nvPicPr>
          <p:cNvPr id="44" name="Image 3" descr="preencoded.png">
            <a:extLst>
              <a:ext uri="{FF2B5EF4-FFF2-40B4-BE49-F238E27FC236}">
                <a16:creationId xmlns:a16="http://schemas.microsoft.com/office/drawing/2014/main" id="{DAA388C5-5E48-C65A-C0D1-FC6C20862218}"/>
              </a:ext>
            </a:extLst>
          </p:cNvPr>
          <p:cNvPicPr>
            <a:picLocks noChangeAspect="1"/>
          </p:cNvPicPr>
          <p:nvPr/>
        </p:nvPicPr>
        <p:blipFill>
          <a:blip r:embed="rId10"/>
          <a:stretch>
            <a:fillRect/>
          </a:stretch>
        </p:blipFill>
        <p:spPr>
          <a:xfrm>
            <a:off x="990295" y="2666390"/>
            <a:ext cx="351130" cy="3511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BULGULAR · 1</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Rota Performansı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99 in-house mağaza · 6 araçla hizmet</a:t>
            </a:r>
            <a:endParaRPr lang="en-US" sz="1400" dirty="0"/>
          </a:p>
        </p:txBody>
      </p:sp>
      <p:sp>
        <p:nvSpPr>
          <p:cNvPr id="6" name="Shape 4"/>
          <p:cNvSpPr/>
          <p:nvPr/>
        </p:nvSpPr>
        <p:spPr>
          <a:xfrm>
            <a:off x="548640" y="2240280"/>
            <a:ext cx="3520440" cy="1371600"/>
          </a:xfrm>
          <a:prstGeom prst="roundRect">
            <a:avLst>
              <a:gd name="adj" fmla="val 5333"/>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7" name="Text 5"/>
          <p:cNvSpPr/>
          <p:nvPr/>
        </p:nvSpPr>
        <p:spPr>
          <a:xfrm>
            <a:off x="731520" y="2377440"/>
            <a:ext cx="3154680" cy="731520"/>
          </a:xfrm>
          <a:prstGeom prst="rect">
            <a:avLst/>
          </a:prstGeom>
          <a:noFill/>
          <a:ln/>
        </p:spPr>
        <p:txBody>
          <a:bodyPr wrap="square" lIns="0" tIns="0" rIns="0" bIns="0" rtlCol="0" anchor="ctr"/>
          <a:lstStyle/>
          <a:p>
            <a:pPr marL="0" indent="0" algn="ctr">
              <a:buNone/>
            </a:pPr>
            <a:r>
              <a:rPr lang="en-US" sz="4000" b="1" dirty="0">
                <a:solidFill>
                  <a:srgbClr val="A26769"/>
                </a:solidFill>
                <a:latin typeface="Cambria" pitchFamily="34" charset="0"/>
                <a:ea typeface="Cambria" pitchFamily="34" charset="-122"/>
                <a:cs typeface="Cambria" pitchFamily="34" charset="-120"/>
              </a:rPr>
              <a:t>1.086,4 km</a:t>
            </a:r>
            <a:endParaRPr lang="en-US" sz="4000" dirty="0"/>
          </a:p>
        </p:txBody>
      </p:sp>
      <p:sp>
        <p:nvSpPr>
          <p:cNvPr id="8" name="Text 6"/>
          <p:cNvSpPr/>
          <p:nvPr/>
        </p:nvSpPr>
        <p:spPr>
          <a:xfrm>
            <a:off x="731520" y="3127248"/>
            <a:ext cx="3154680" cy="411480"/>
          </a:xfrm>
          <a:prstGeom prst="rect">
            <a:avLst/>
          </a:prstGeom>
          <a:noFill/>
          <a:ln/>
        </p:spPr>
        <p:txBody>
          <a:bodyPr wrap="square" lIns="0" tIns="0" rIns="0" bIns="0" rtlCol="0" anchor="ctr"/>
          <a:lstStyle/>
          <a:p>
            <a:pPr marL="0" indent="0" algn="ctr">
              <a:buNone/>
            </a:pPr>
            <a:r>
              <a:rPr lang="en-US" sz="1100" dirty="0">
                <a:solidFill>
                  <a:srgbClr val="7A6B6F"/>
                </a:solidFill>
                <a:latin typeface="Calibri" pitchFamily="34" charset="0"/>
                <a:ea typeface="Calibri" pitchFamily="34" charset="-122"/>
                <a:cs typeface="Calibri" pitchFamily="34" charset="-120"/>
              </a:rPr>
              <a:t>Toplam rota mesafesi</a:t>
            </a:r>
            <a:endParaRPr lang="en-US" sz="1100" dirty="0"/>
          </a:p>
        </p:txBody>
      </p:sp>
      <p:sp>
        <p:nvSpPr>
          <p:cNvPr id="9" name="Shape 7"/>
          <p:cNvSpPr/>
          <p:nvPr/>
        </p:nvSpPr>
        <p:spPr>
          <a:xfrm>
            <a:off x="4270248" y="2240280"/>
            <a:ext cx="3520440" cy="1371600"/>
          </a:xfrm>
          <a:prstGeom prst="roundRect">
            <a:avLst>
              <a:gd name="adj" fmla="val 5333"/>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10" name="Text 8"/>
          <p:cNvSpPr/>
          <p:nvPr/>
        </p:nvSpPr>
        <p:spPr>
          <a:xfrm>
            <a:off x="4453128" y="2377440"/>
            <a:ext cx="3154680" cy="731520"/>
          </a:xfrm>
          <a:prstGeom prst="rect">
            <a:avLst/>
          </a:prstGeom>
          <a:noFill/>
          <a:ln/>
        </p:spPr>
        <p:txBody>
          <a:bodyPr wrap="square" lIns="0" tIns="0" rIns="0" bIns="0" rtlCol="0" anchor="ctr"/>
          <a:lstStyle/>
          <a:p>
            <a:pPr marL="0" indent="0" algn="ctr">
              <a:buNone/>
            </a:pPr>
            <a:r>
              <a:rPr lang="en-US" sz="4000" b="1" dirty="0">
                <a:solidFill>
                  <a:srgbClr val="6D2E46"/>
                </a:solidFill>
                <a:latin typeface="Cambria" pitchFamily="34" charset="0"/>
                <a:ea typeface="Cambria" pitchFamily="34" charset="-122"/>
                <a:cs typeface="Cambria" pitchFamily="34" charset="-120"/>
              </a:rPr>
              <a:t>%82,5</a:t>
            </a:r>
            <a:endParaRPr lang="en-US" sz="4000" dirty="0"/>
          </a:p>
        </p:txBody>
      </p:sp>
      <p:sp>
        <p:nvSpPr>
          <p:cNvPr id="11" name="Text 9"/>
          <p:cNvSpPr/>
          <p:nvPr/>
        </p:nvSpPr>
        <p:spPr>
          <a:xfrm>
            <a:off x="4453128" y="3127248"/>
            <a:ext cx="3154680" cy="411480"/>
          </a:xfrm>
          <a:prstGeom prst="rect">
            <a:avLst/>
          </a:prstGeom>
          <a:noFill/>
          <a:ln/>
        </p:spPr>
        <p:txBody>
          <a:bodyPr wrap="square" lIns="0" tIns="0" rIns="0" bIns="0" rtlCol="0" anchor="ctr"/>
          <a:lstStyle/>
          <a:p>
            <a:pPr marL="0" indent="0" algn="ctr">
              <a:buNone/>
            </a:pPr>
            <a:r>
              <a:rPr lang="en-US" sz="1100" dirty="0">
                <a:solidFill>
                  <a:srgbClr val="7A6B6F"/>
                </a:solidFill>
                <a:latin typeface="Calibri" pitchFamily="34" charset="0"/>
                <a:ea typeface="Calibri" pitchFamily="34" charset="-122"/>
                <a:cs typeface="Calibri" pitchFamily="34" charset="-120"/>
              </a:rPr>
              <a:t>Ortalama araç doluluğu</a:t>
            </a:r>
            <a:endParaRPr lang="en-US" sz="1100" dirty="0"/>
          </a:p>
        </p:txBody>
      </p:sp>
      <p:sp>
        <p:nvSpPr>
          <p:cNvPr id="12" name="Shape 10"/>
          <p:cNvSpPr/>
          <p:nvPr/>
        </p:nvSpPr>
        <p:spPr>
          <a:xfrm>
            <a:off x="7991856" y="2240280"/>
            <a:ext cx="3520440" cy="1371600"/>
          </a:xfrm>
          <a:prstGeom prst="roundRect">
            <a:avLst>
              <a:gd name="adj" fmla="val 5333"/>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13" name="Text 11"/>
          <p:cNvSpPr/>
          <p:nvPr/>
        </p:nvSpPr>
        <p:spPr>
          <a:xfrm>
            <a:off x="8174736" y="2377440"/>
            <a:ext cx="3154680" cy="731520"/>
          </a:xfrm>
          <a:prstGeom prst="rect">
            <a:avLst/>
          </a:prstGeom>
          <a:noFill/>
          <a:ln/>
        </p:spPr>
        <p:txBody>
          <a:bodyPr wrap="square" lIns="0" tIns="0" rIns="0" bIns="0" rtlCol="0" anchor="ctr"/>
          <a:lstStyle/>
          <a:p>
            <a:pPr marL="0" indent="0" algn="ctr">
              <a:buNone/>
            </a:pPr>
            <a:r>
              <a:rPr lang="en-US" sz="4000" b="1" dirty="0">
                <a:solidFill>
                  <a:srgbClr val="C8902B"/>
                </a:solidFill>
                <a:latin typeface="Cambria" pitchFamily="34" charset="0"/>
                <a:ea typeface="Cambria" pitchFamily="34" charset="-122"/>
                <a:cs typeface="Cambria" pitchFamily="34" charset="-120"/>
              </a:rPr>
              <a:t>536 dk</a:t>
            </a:r>
            <a:endParaRPr lang="en-US" sz="4000" dirty="0"/>
          </a:p>
        </p:txBody>
      </p:sp>
      <p:sp>
        <p:nvSpPr>
          <p:cNvPr id="14" name="Text 12"/>
          <p:cNvSpPr/>
          <p:nvPr/>
        </p:nvSpPr>
        <p:spPr>
          <a:xfrm>
            <a:off x="8174736" y="3127248"/>
            <a:ext cx="3154680" cy="411480"/>
          </a:xfrm>
          <a:prstGeom prst="rect">
            <a:avLst/>
          </a:prstGeom>
          <a:noFill/>
          <a:ln/>
        </p:spPr>
        <p:txBody>
          <a:bodyPr wrap="square" lIns="0" tIns="0" rIns="0" bIns="0" rtlCol="0" anchor="ctr"/>
          <a:lstStyle/>
          <a:p>
            <a:pPr marL="0" indent="0" algn="ctr">
              <a:buNone/>
            </a:pPr>
            <a:r>
              <a:rPr lang="en-US" sz="1100" dirty="0">
                <a:solidFill>
                  <a:srgbClr val="7A6B6F"/>
                </a:solidFill>
                <a:latin typeface="Calibri" pitchFamily="34" charset="0"/>
                <a:ea typeface="Calibri" pitchFamily="34" charset="-122"/>
                <a:cs typeface="Calibri" pitchFamily="34" charset="-120"/>
              </a:rPr>
              <a:t>Maks. rota süresi (limit: 540 dk)</a:t>
            </a:r>
            <a:endParaRPr lang="en-US" sz="1100" dirty="0"/>
          </a:p>
        </p:txBody>
      </p:sp>
      <p:sp>
        <p:nvSpPr>
          <p:cNvPr id="15" name="Text 13"/>
          <p:cNvSpPr/>
          <p:nvPr/>
        </p:nvSpPr>
        <p:spPr>
          <a:xfrm>
            <a:off x="548640" y="3749040"/>
            <a:ext cx="8229600" cy="365760"/>
          </a:xfrm>
          <a:prstGeom prst="rect">
            <a:avLst/>
          </a:prstGeom>
          <a:noFill/>
          <a:ln/>
        </p:spPr>
        <p:txBody>
          <a:bodyPr wrap="square" lIns="0" tIns="0" rIns="0" bIns="0" rtlCol="0" anchor="ctr"/>
          <a:lstStyle/>
          <a:p>
            <a:pPr marL="0" indent="0">
              <a:buNone/>
            </a:pPr>
            <a:r>
              <a:rPr lang="en-US" sz="1300" b="1" dirty="0">
                <a:solidFill>
                  <a:srgbClr val="2B2024"/>
                </a:solidFill>
                <a:latin typeface="Calibri" pitchFamily="34" charset="0"/>
                <a:ea typeface="Calibri" pitchFamily="34" charset="-122"/>
                <a:cs typeface="Calibri" pitchFamily="34" charset="-120"/>
              </a:rPr>
              <a:t>Araç Bazında: Taşınan Yük ve Kapasite</a:t>
            </a:r>
            <a:endParaRPr lang="en-US" sz="1300" dirty="0"/>
          </a:p>
        </p:txBody>
      </p:sp>
      <p:graphicFrame>
        <p:nvGraphicFramePr>
          <p:cNvPr id="16" name="Chart 0"/>
          <p:cNvGraphicFramePr/>
          <p:nvPr/>
        </p:nvGraphicFramePr>
        <p:xfrm>
          <a:off x="457200" y="4114800"/>
          <a:ext cx="1124712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09</a:t>
            </a:r>
            <a:endParaRPr lang="en-US" sz="1000" dirty="0"/>
          </a:p>
        </p:txBody>
      </p:sp>
      <p:sp>
        <p:nvSpPr>
          <p:cNvPr id="18" name="Text 15"/>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BULGULAR · 2</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Maliyet Karşılaştırması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Kapsam uyumlu karşılaştırmada hibrit senaryo daha düşük maliyetli</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6766560" cy="2203704"/>
        </p:xfrm>
        <a:graphic>
          <a:graphicData uri="http://schemas.openxmlformats.org/drawingml/2006/table">
            <a:tbl>
              <a:tblPr/>
              <a:tblGrid>
                <a:gridCol w="21945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Senaryo</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6D2E4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Tam Outsource</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6D2E4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Hibrit</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6D2E4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Tasarruf</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6D2E4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Günlük Fark</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566928">
                <a:tc>
                  <a:txBody>
                    <a:bodyPr/>
                    <a:lstStyle/>
                    <a:p>
                      <a:pPr marL="0" indent="0" algn="l">
                        <a:buNone/>
                      </a:pPr>
                      <a:r>
                        <a:rPr lang="en-US" sz="1300" dirty="0">
                          <a:solidFill>
                            <a:srgbClr val="2B2024"/>
                          </a:solidFill>
                          <a:latin typeface="Calibri" pitchFamily="34" charset="0"/>
                          <a:ea typeface="Calibri" pitchFamily="34" charset="-122"/>
                          <a:cs typeface="Calibri" pitchFamily="34" charset="-120"/>
                        </a:rPr>
                        <a:t>Pilot Kapsam (204 mağaza)</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114.750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99.414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%13,4 ★</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15.336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extLst>
                  <a:ext uri="{0D108BD9-81ED-4DB2-BD59-A6C34878D82A}">
                    <a16:rowId xmlns:a16="http://schemas.microsoft.com/office/drawing/2014/main" val="10001"/>
                  </a:ext>
                </a:extLst>
              </a:tr>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Tüm Sistem (533 mağaza)</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A2676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299.813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A2676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284.476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A26769"/>
                    </a:solidFill>
                  </a:tcPr>
                </a:tc>
                <a:tc>
                  <a:txBody>
                    <a:bodyPr/>
                    <a:lstStyle/>
                    <a:p>
                      <a:pPr marL="0" indent="0" algn="ctr">
                        <a:buNone/>
                      </a:pPr>
                      <a:r>
                        <a:rPr lang="en-US" sz="1300" dirty="0">
                          <a:solidFill>
                            <a:srgbClr val="FFFFFF"/>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A2676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15.336 TL</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A26769"/>
                    </a:solidFill>
                  </a:tcPr>
                </a:tc>
                <a:extLst>
                  <a:ext uri="{0D108BD9-81ED-4DB2-BD59-A6C34878D82A}">
                    <a16:rowId xmlns:a16="http://schemas.microsoft.com/office/drawing/2014/main" val="10002"/>
                  </a:ext>
                </a:extLst>
              </a:tr>
              <a:tr h="566928">
                <a:tc>
                  <a:txBody>
                    <a:bodyPr/>
                    <a:lstStyle/>
                    <a:p>
                      <a:pPr marL="0" indent="0" algn="l">
                        <a:buNone/>
                      </a:pPr>
                      <a:r>
                        <a:rPr lang="en-US" sz="1300" dirty="0">
                          <a:solidFill>
                            <a:srgbClr val="2B2024"/>
                          </a:solidFill>
                          <a:latin typeface="Calibri" pitchFamily="34" charset="0"/>
                          <a:ea typeface="Calibri" pitchFamily="34" charset="-122"/>
                          <a:cs typeface="Calibri" pitchFamily="34" charset="-120"/>
                        </a:rPr>
                        <a:t>Duyarlılık Bandı (p ±%20)</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b="1" dirty="0">
                          <a:solidFill>
                            <a:srgbClr val="6D2E4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b="1" dirty="0">
                          <a:solidFill>
                            <a:srgbClr val="6D2E46"/>
                          </a:solidFill>
                          <a:latin typeface="Calibri" pitchFamily="34" charset="0"/>
                          <a:ea typeface="Calibri" pitchFamily="34" charset="-122"/>
                          <a:cs typeface="Calibri" pitchFamily="34" charset="-120"/>
                        </a:rPr>
                        <a:t>%4,6–%19,2</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tc>
                  <a:txBody>
                    <a:bodyPr/>
                    <a:lstStyle/>
                    <a:p>
                      <a:pPr marL="0" indent="0" algn="ctr">
                        <a:buNone/>
                      </a:pPr>
                      <a:r>
                        <a:rPr lang="en-US" sz="1300" dirty="0">
                          <a:solidFill>
                            <a:srgbClr val="2B2024"/>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F4ECE2"/>
                      </a:solidFill>
                      <a:prstDash val="solid"/>
                      <a:round/>
                      <a:headEnd type="none" w="med" len="med"/>
                      <a:tailEnd type="none" w="med" len="med"/>
                    </a:lnL>
                    <a:lnR w="12700" cap="flat" cmpd="sng" algn="ctr">
                      <a:solidFill>
                        <a:srgbClr val="F4ECE2"/>
                      </a:solidFill>
                      <a:prstDash val="solid"/>
                      <a:round/>
                      <a:headEnd type="none" w="med" len="med"/>
                      <a:tailEnd type="none" w="med" len="med"/>
                    </a:lnR>
                    <a:lnT w="12700" cap="flat" cmpd="sng" algn="ctr">
                      <a:solidFill>
                        <a:srgbClr val="F4ECE2"/>
                      </a:solidFill>
                      <a:prstDash val="solid"/>
                      <a:round/>
                      <a:headEnd type="none" w="med" len="med"/>
                      <a:tailEnd type="none" w="med" len="med"/>
                    </a:lnT>
                    <a:lnB w="12700" cap="flat" cmpd="sng" algn="ctr">
                      <a:solidFill>
                        <a:srgbClr val="F4ECE2"/>
                      </a:solidFill>
                      <a:prstDash val="solid"/>
                      <a:round/>
                      <a:headEnd type="none" w="med" len="med"/>
                      <a:tailEnd type="none" w="med" len="med"/>
                    </a:lnB>
                    <a:solidFill>
                      <a:srgbClr val="FBF6E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4526280"/>
            <a:ext cx="6766560" cy="320040"/>
          </a:xfrm>
          <a:prstGeom prst="rect">
            <a:avLst/>
          </a:prstGeom>
          <a:noFill/>
          <a:ln/>
        </p:spPr>
        <p:txBody>
          <a:bodyPr wrap="square" lIns="0" tIns="0" rIns="0" bIns="0" rtlCol="0" anchor="ctr"/>
          <a:lstStyle/>
          <a:p>
            <a:pPr marL="0" indent="0">
              <a:buNone/>
            </a:pPr>
            <a:r>
              <a:rPr lang="en-US" sz="1000" i="1" dirty="0">
                <a:solidFill>
                  <a:srgbClr val="7A6B6F"/>
                </a:solidFill>
                <a:latin typeface="Calibri" pitchFamily="34" charset="0"/>
                <a:ea typeface="Calibri" pitchFamily="34" charset="-122"/>
                <a:cs typeface="Calibri" pitchFamily="34" charset="-120"/>
              </a:rPr>
              <a:t>★ = kapsam uyumlu en yüksek tasarruf</a:t>
            </a:r>
            <a:endParaRPr lang="en-US" sz="1000" dirty="0"/>
          </a:p>
        </p:txBody>
      </p:sp>
      <p:sp>
        <p:nvSpPr>
          <p:cNvPr id="8" name="Shape 5"/>
          <p:cNvSpPr/>
          <p:nvPr/>
        </p:nvSpPr>
        <p:spPr>
          <a:xfrm>
            <a:off x="7589520" y="2286000"/>
            <a:ext cx="4023360" cy="3703320"/>
          </a:xfrm>
          <a:prstGeom prst="roundRect">
            <a:avLst>
              <a:gd name="adj" fmla="val 2222"/>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9" name="Shape 6"/>
          <p:cNvSpPr/>
          <p:nvPr/>
        </p:nvSpPr>
        <p:spPr>
          <a:xfrm>
            <a:off x="7863840" y="2560320"/>
            <a:ext cx="640080" cy="640080"/>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10" name="Image 0" descr="preencoded.png"/>
          <p:cNvPicPr>
            <a:picLocks noChangeAspect="1"/>
          </p:cNvPicPr>
          <p:nvPr/>
        </p:nvPicPr>
        <p:blipFill>
          <a:blip r:embed="rId3"/>
          <a:stretch>
            <a:fillRect/>
          </a:stretch>
        </p:blipFill>
        <p:spPr>
          <a:xfrm>
            <a:off x="8030261" y="2726741"/>
            <a:ext cx="307238" cy="307238"/>
          </a:xfrm>
          <a:prstGeom prst="rect">
            <a:avLst/>
          </a:prstGeom>
        </p:spPr>
      </p:pic>
      <p:sp>
        <p:nvSpPr>
          <p:cNvPr id="11" name="Text 7"/>
          <p:cNvSpPr/>
          <p:nvPr/>
        </p:nvSpPr>
        <p:spPr>
          <a:xfrm>
            <a:off x="8641080" y="2606040"/>
            <a:ext cx="27432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Neden kapsam uyumu önemli?</a:t>
            </a:r>
            <a:endParaRPr lang="en-US" sz="1500" dirty="0"/>
          </a:p>
        </p:txBody>
      </p:sp>
      <p:sp>
        <p:nvSpPr>
          <p:cNvPr id="6" name="Text 8"/>
          <p:cNvSpPr/>
          <p:nvPr/>
        </p:nvSpPr>
        <p:spPr>
          <a:xfrm>
            <a:off x="7863840" y="3291840"/>
            <a:ext cx="3520440" cy="2606040"/>
          </a:xfrm>
          <a:prstGeom prst="rect">
            <a:avLst/>
          </a:prstGeom>
          <a:noFill/>
          <a:ln/>
        </p:spPr>
        <p:txBody>
          <a:bodyPr wrap="square" lIns="0" tIns="0" rIns="0" bIns="0" rtlCol="0" anchor="ctr"/>
          <a:lstStyle/>
          <a:p>
            <a:pPr marL="0" indent="0">
              <a:lnSpc>
                <a:spcPct val="108000"/>
              </a:lnSpc>
              <a:buNone/>
            </a:pPr>
            <a:r>
              <a:rPr lang="en-US" sz="1250" b="1" dirty="0">
                <a:solidFill>
                  <a:srgbClr val="C8902B"/>
                </a:solidFill>
                <a:latin typeface="Calibri" pitchFamily="34" charset="0"/>
                <a:ea typeface="Calibri" pitchFamily="34" charset="-122"/>
                <a:cs typeface="Calibri" pitchFamily="34" charset="-120"/>
              </a:rPr>
              <a:t>Farklı kapsamlara ait maliyetler </a:t>
            </a:r>
            <a:r>
              <a:rPr lang="en-US" sz="1250" dirty="0">
                <a:solidFill>
                  <a:srgbClr val="F4ECE2"/>
                </a:solidFill>
                <a:latin typeface="Calibri" pitchFamily="34" charset="0"/>
                <a:ea typeface="Calibri" pitchFamily="34" charset="-122"/>
                <a:cs typeface="Calibri" pitchFamily="34" charset="-120"/>
              </a:rPr>
              <a:t>doğrudan karşılaştırılamaz.</a:t>
            </a:r>
            <a:endParaRPr lang="en-US" sz="1250" dirty="0"/>
          </a:p>
          <a:p>
            <a:pPr marL="0" indent="0">
              <a:lnSpc>
                <a:spcPct val="108000"/>
              </a:lnSpc>
              <a:buNone/>
            </a:pPr>
            <a:endParaRPr lang="en-US" sz="1250" dirty="0"/>
          </a:p>
          <a:p>
            <a:pPr marL="0" indent="0">
              <a:lnSpc>
                <a:spcPct val="108000"/>
              </a:lnSpc>
              <a:buNone/>
            </a:pPr>
            <a:r>
              <a:rPr lang="en-US" sz="1250" dirty="0">
                <a:solidFill>
                  <a:srgbClr val="FFFFFF"/>
                </a:solidFill>
                <a:latin typeface="Calibri" pitchFamily="34" charset="0"/>
                <a:ea typeface="Calibri" pitchFamily="34" charset="-122"/>
                <a:cs typeface="Calibri" pitchFamily="34" charset="-120"/>
              </a:rPr>
              <a:t>Pilot ve tüm sistem karşılaştırmalarında günlük fark aynı (15.336 TL); </a:t>
            </a:r>
            <a:r>
              <a:rPr lang="en-US" sz="1250" dirty="0">
                <a:solidFill>
                  <a:srgbClr val="F4ECE2"/>
                </a:solidFill>
                <a:latin typeface="Calibri" pitchFamily="34" charset="0"/>
                <a:ea typeface="Calibri" pitchFamily="34" charset="-122"/>
                <a:cs typeface="Calibri" pitchFamily="34" charset="-120"/>
              </a:rPr>
              <a:t>yalnızca referans tabanın büyümesi tasarruf oranını düşürüyor.</a:t>
            </a:r>
            <a:endParaRPr lang="en-US" sz="1250" dirty="0"/>
          </a:p>
          <a:p>
            <a:pPr marL="0" indent="0">
              <a:lnSpc>
                <a:spcPct val="108000"/>
              </a:lnSpc>
              <a:buNone/>
            </a:pPr>
            <a:endParaRPr lang="en-US" sz="1250" dirty="0"/>
          </a:p>
          <a:p>
            <a:pPr marL="0" indent="0">
              <a:lnSpc>
                <a:spcPct val="108000"/>
              </a:lnSpc>
              <a:buNone/>
            </a:pPr>
            <a:r>
              <a:rPr lang="en-US" sz="1250" i="1" dirty="0">
                <a:solidFill>
                  <a:srgbClr val="FFFFFF"/>
                </a:solidFill>
                <a:latin typeface="Calibri" pitchFamily="34" charset="0"/>
                <a:ea typeface="Calibri" pitchFamily="34" charset="-122"/>
                <a:cs typeface="Calibri" pitchFamily="34" charset="-120"/>
              </a:rPr>
              <a:t>Bu tutarlılık, hesaplamanın doğruluğunu da teyit ediyor.</a:t>
            </a:r>
            <a:endParaRPr lang="en-US" sz="1250" dirty="0"/>
          </a:p>
        </p:txBody>
      </p:sp>
      <p:sp>
        <p:nvSpPr>
          <p:cNvPr id="13" name="Text 9"/>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10</a:t>
            </a:r>
            <a:endParaRPr lang="en-US" sz="1000" dirty="0"/>
          </a:p>
        </p:txBody>
      </p:sp>
      <p:sp>
        <p:nvSpPr>
          <p:cNvPr id="14" name="Text 10"/>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BULGULAR · 3</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Yatırım Geri Dönüşü ve Risk</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Ölçeğin geri dönüşe etkisi · Basit Payback</a:t>
            </a:r>
            <a:endParaRPr lang="en-US" sz="1400" dirty="0"/>
          </a:p>
        </p:txBody>
      </p:sp>
      <p:sp>
        <p:nvSpPr>
          <p:cNvPr id="6" name="Shape 4"/>
          <p:cNvSpPr/>
          <p:nvPr/>
        </p:nvSpPr>
        <p:spPr>
          <a:xfrm>
            <a:off x="548640" y="2240280"/>
            <a:ext cx="3520440" cy="1280160"/>
          </a:xfrm>
          <a:prstGeom prst="roundRect">
            <a:avLst>
              <a:gd name="adj" fmla="val 571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7" name="Shape 5"/>
          <p:cNvSpPr/>
          <p:nvPr/>
        </p:nvSpPr>
        <p:spPr>
          <a:xfrm>
            <a:off x="777240" y="2596896"/>
            <a:ext cx="566928" cy="566928"/>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924641" y="2744297"/>
            <a:ext cx="272125" cy="272125"/>
          </a:xfrm>
          <a:prstGeom prst="rect">
            <a:avLst/>
          </a:prstGeom>
        </p:spPr>
      </p:pic>
      <p:sp>
        <p:nvSpPr>
          <p:cNvPr id="9" name="Text 6"/>
          <p:cNvSpPr/>
          <p:nvPr/>
        </p:nvSpPr>
        <p:spPr>
          <a:xfrm>
            <a:off x="1463040" y="2331720"/>
            <a:ext cx="2468880" cy="640080"/>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15.336 TL</a:t>
            </a:r>
            <a:endParaRPr lang="en-US" sz="3200" dirty="0"/>
          </a:p>
        </p:txBody>
      </p:sp>
      <p:sp>
        <p:nvSpPr>
          <p:cNvPr id="10" name="Text 7"/>
          <p:cNvSpPr/>
          <p:nvPr/>
        </p:nvSpPr>
        <p:spPr>
          <a:xfrm>
            <a:off x="1463040" y="2944368"/>
            <a:ext cx="2468880" cy="457200"/>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Günlük net tasarruf</a:t>
            </a:r>
            <a:endParaRPr lang="en-US" sz="1050" dirty="0"/>
          </a:p>
        </p:txBody>
      </p:sp>
      <p:sp>
        <p:nvSpPr>
          <p:cNvPr id="11" name="Shape 8"/>
          <p:cNvSpPr/>
          <p:nvPr/>
        </p:nvSpPr>
        <p:spPr>
          <a:xfrm>
            <a:off x="4270248" y="2240280"/>
            <a:ext cx="3520440" cy="1280160"/>
          </a:xfrm>
          <a:prstGeom prst="roundRect">
            <a:avLst>
              <a:gd name="adj" fmla="val 571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2" name="Shape 9"/>
          <p:cNvSpPr/>
          <p:nvPr/>
        </p:nvSpPr>
        <p:spPr>
          <a:xfrm>
            <a:off x="4498848" y="2596896"/>
            <a:ext cx="566928" cy="566928"/>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3" name="Image 1" descr="preencoded.png"/>
          <p:cNvPicPr>
            <a:picLocks noChangeAspect="1"/>
          </p:cNvPicPr>
          <p:nvPr/>
        </p:nvPicPr>
        <p:blipFill>
          <a:blip r:embed="rId4"/>
          <a:stretch>
            <a:fillRect/>
          </a:stretch>
        </p:blipFill>
        <p:spPr>
          <a:xfrm>
            <a:off x="4646249" y="2744297"/>
            <a:ext cx="272125" cy="272125"/>
          </a:xfrm>
          <a:prstGeom prst="rect">
            <a:avLst/>
          </a:prstGeom>
        </p:spPr>
      </p:pic>
      <p:sp>
        <p:nvSpPr>
          <p:cNvPr id="14" name="Text 10"/>
          <p:cNvSpPr/>
          <p:nvPr/>
        </p:nvSpPr>
        <p:spPr>
          <a:xfrm>
            <a:off x="5184648" y="2331720"/>
            <a:ext cx="2468880" cy="640080"/>
          </a:xfrm>
          <a:prstGeom prst="rect">
            <a:avLst/>
          </a:prstGeom>
          <a:noFill/>
          <a:ln/>
        </p:spPr>
        <p:txBody>
          <a:bodyPr wrap="square" lIns="0" tIns="0" rIns="0" bIns="0" rtlCol="0" anchor="ctr"/>
          <a:lstStyle/>
          <a:p>
            <a:pPr marL="0" indent="0">
              <a:buNone/>
            </a:pPr>
            <a:r>
              <a:rPr lang="en-US" sz="3200" b="1" dirty="0">
                <a:solidFill>
                  <a:srgbClr val="A26769"/>
                </a:solidFill>
                <a:latin typeface="Cambria" pitchFamily="34" charset="0"/>
                <a:ea typeface="Cambria" pitchFamily="34" charset="-122"/>
                <a:cs typeface="Cambria" pitchFamily="34" charset="-120"/>
              </a:rPr>
              <a:t>30 Milyon TL</a:t>
            </a:r>
            <a:endParaRPr lang="en-US" sz="3200" dirty="0"/>
          </a:p>
        </p:txBody>
      </p:sp>
      <p:sp>
        <p:nvSpPr>
          <p:cNvPr id="15" name="Text 11"/>
          <p:cNvSpPr/>
          <p:nvPr/>
        </p:nvSpPr>
        <p:spPr>
          <a:xfrm>
            <a:off x="5184648" y="2944368"/>
            <a:ext cx="2468880" cy="457200"/>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Toplam filo yatırımı (6 araç)</a:t>
            </a:r>
            <a:endParaRPr lang="en-US" sz="1050" dirty="0"/>
          </a:p>
        </p:txBody>
      </p:sp>
      <p:sp>
        <p:nvSpPr>
          <p:cNvPr id="16" name="Shape 12"/>
          <p:cNvSpPr/>
          <p:nvPr/>
        </p:nvSpPr>
        <p:spPr>
          <a:xfrm>
            <a:off x="7991856" y="2240280"/>
            <a:ext cx="3520440" cy="1280160"/>
          </a:xfrm>
          <a:prstGeom prst="roundRect">
            <a:avLst>
              <a:gd name="adj" fmla="val 571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7" name="Shape 13"/>
          <p:cNvSpPr/>
          <p:nvPr/>
        </p:nvSpPr>
        <p:spPr>
          <a:xfrm>
            <a:off x="8220456" y="2596896"/>
            <a:ext cx="566928" cy="566928"/>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18" name="Image 2" descr="preencoded.png"/>
          <p:cNvPicPr>
            <a:picLocks noChangeAspect="1"/>
          </p:cNvPicPr>
          <p:nvPr/>
        </p:nvPicPr>
        <p:blipFill>
          <a:blip r:embed="rId5"/>
          <a:stretch>
            <a:fillRect/>
          </a:stretch>
        </p:blipFill>
        <p:spPr>
          <a:xfrm>
            <a:off x="8367857" y="2744297"/>
            <a:ext cx="272125" cy="272125"/>
          </a:xfrm>
          <a:prstGeom prst="rect">
            <a:avLst/>
          </a:prstGeom>
        </p:spPr>
      </p:pic>
      <p:sp>
        <p:nvSpPr>
          <p:cNvPr id="19" name="Text 14"/>
          <p:cNvSpPr/>
          <p:nvPr/>
        </p:nvSpPr>
        <p:spPr>
          <a:xfrm>
            <a:off x="8906256" y="2331720"/>
            <a:ext cx="2468880" cy="640080"/>
          </a:xfrm>
          <a:prstGeom prst="rect">
            <a:avLst/>
          </a:prstGeom>
          <a:noFill/>
          <a:ln/>
        </p:spPr>
        <p:txBody>
          <a:bodyPr wrap="square" lIns="0" tIns="0" rIns="0" bIns="0" rtlCol="0" anchor="ctr"/>
          <a:lstStyle/>
          <a:p>
            <a:pPr marL="0" indent="0">
              <a:buNone/>
            </a:pPr>
            <a:r>
              <a:rPr lang="en-US" sz="3200" b="1" dirty="0">
                <a:solidFill>
                  <a:srgbClr val="C8902B"/>
                </a:solidFill>
                <a:latin typeface="Cambria" pitchFamily="34" charset="0"/>
                <a:ea typeface="Cambria" pitchFamily="34" charset="-122"/>
                <a:cs typeface="Cambria" pitchFamily="34" charset="-120"/>
              </a:rPr>
              <a:t>6,5 yıl</a:t>
            </a:r>
            <a:endParaRPr lang="en-US" sz="3200" dirty="0"/>
          </a:p>
        </p:txBody>
      </p:sp>
      <p:sp>
        <p:nvSpPr>
          <p:cNvPr id="20" name="Text 15"/>
          <p:cNvSpPr/>
          <p:nvPr/>
        </p:nvSpPr>
        <p:spPr>
          <a:xfrm>
            <a:off x="8906256" y="2944368"/>
            <a:ext cx="2468880" cy="457200"/>
          </a:xfrm>
          <a:prstGeom prst="rect">
            <a:avLst/>
          </a:prstGeom>
          <a:noFill/>
          <a:ln/>
        </p:spPr>
        <p:txBody>
          <a:bodyPr wrap="square" lIns="0" tIns="0" rIns="0" bIns="0" rtlCol="0" anchor="ctr"/>
          <a:lstStyle/>
          <a:p>
            <a:pPr marL="0" indent="0">
              <a:buNone/>
            </a:pPr>
            <a:r>
              <a:rPr lang="en-US" sz="1050" dirty="0">
                <a:solidFill>
                  <a:srgbClr val="7A6B6F"/>
                </a:solidFill>
                <a:latin typeface="Calibri" pitchFamily="34" charset="0"/>
                <a:ea typeface="Calibri" pitchFamily="34" charset="-122"/>
                <a:cs typeface="Calibri" pitchFamily="34" charset="-120"/>
              </a:rPr>
              <a:t>Basit geri dönüş süresi</a:t>
            </a:r>
            <a:endParaRPr lang="en-US" sz="1050" dirty="0"/>
          </a:p>
        </p:txBody>
      </p:sp>
      <p:sp>
        <p:nvSpPr>
          <p:cNvPr id="21" name="Shape 16"/>
          <p:cNvSpPr/>
          <p:nvPr/>
        </p:nvSpPr>
        <p:spPr>
          <a:xfrm>
            <a:off x="548640" y="3749040"/>
            <a:ext cx="6812280" cy="2286000"/>
          </a:xfrm>
          <a:prstGeom prst="roundRect">
            <a:avLst>
              <a:gd name="adj" fmla="val 3600"/>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22" name="Shape 17"/>
          <p:cNvSpPr/>
          <p:nvPr/>
        </p:nvSpPr>
        <p:spPr>
          <a:xfrm>
            <a:off x="841248" y="4041648"/>
            <a:ext cx="658368" cy="658368"/>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23" name="Image 3" descr="preencoded.png"/>
          <p:cNvPicPr>
            <a:picLocks noChangeAspect="1"/>
          </p:cNvPicPr>
          <p:nvPr/>
        </p:nvPicPr>
        <p:blipFill>
          <a:blip r:embed="rId6"/>
          <a:stretch>
            <a:fillRect/>
          </a:stretch>
        </p:blipFill>
        <p:spPr>
          <a:xfrm>
            <a:off x="1012424" y="4212824"/>
            <a:ext cx="316017" cy="316017"/>
          </a:xfrm>
          <a:prstGeom prst="rect">
            <a:avLst/>
          </a:prstGeom>
        </p:spPr>
      </p:pic>
      <p:sp>
        <p:nvSpPr>
          <p:cNvPr id="24" name="Text 18"/>
          <p:cNvSpPr/>
          <p:nvPr/>
        </p:nvSpPr>
        <p:spPr>
          <a:xfrm>
            <a:off x="1645920" y="4069080"/>
            <a:ext cx="548640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Yıllık Net Tasarruf (300 İş Günü)</a:t>
            </a:r>
            <a:endParaRPr lang="en-US" sz="1500" dirty="0"/>
          </a:p>
        </p:txBody>
      </p:sp>
      <p:sp>
        <p:nvSpPr>
          <p:cNvPr id="25" name="Text 19"/>
          <p:cNvSpPr/>
          <p:nvPr/>
        </p:nvSpPr>
        <p:spPr>
          <a:xfrm>
            <a:off x="868680" y="4754880"/>
            <a:ext cx="210312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≈4.600.937 TL/yıl</a:t>
            </a:r>
            <a:endParaRPr lang="en-US" sz="1900" dirty="0"/>
          </a:p>
        </p:txBody>
      </p:sp>
      <p:sp>
        <p:nvSpPr>
          <p:cNvPr id="26" name="Text 20"/>
          <p:cNvSpPr/>
          <p:nvPr/>
        </p:nvSpPr>
        <p:spPr>
          <a:xfrm>
            <a:off x="868680" y="5230368"/>
            <a:ext cx="2103120" cy="548640"/>
          </a:xfrm>
          <a:prstGeom prst="rect">
            <a:avLst/>
          </a:prstGeom>
          <a:noFill/>
          <a:ln/>
        </p:spPr>
        <p:txBody>
          <a:bodyPr wrap="square" lIns="0" tIns="0" rIns="0" bIns="0" rtlCol="0" anchor="ctr"/>
          <a:lstStyle/>
          <a:p>
            <a:pPr marL="0" indent="0" algn="ctr">
              <a:buNone/>
            </a:pPr>
            <a:r>
              <a:rPr lang="en-US" sz="1000" dirty="0">
                <a:solidFill>
                  <a:srgbClr val="F4ECE2"/>
                </a:solidFill>
                <a:latin typeface="Calibri" pitchFamily="34" charset="0"/>
                <a:ea typeface="Calibri" pitchFamily="34" charset="-122"/>
                <a:cs typeface="Calibri" pitchFamily="34" charset="-120"/>
              </a:rPr>
              <a:t>Yıllık toplam tasarruf</a:t>
            </a:r>
            <a:endParaRPr lang="en-US" sz="1000" dirty="0"/>
          </a:p>
        </p:txBody>
      </p:sp>
      <p:sp>
        <p:nvSpPr>
          <p:cNvPr id="27" name="Text 21"/>
          <p:cNvSpPr/>
          <p:nvPr/>
        </p:nvSpPr>
        <p:spPr>
          <a:xfrm>
            <a:off x="3063240" y="4754880"/>
            <a:ext cx="210312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 yıl</a:t>
            </a:r>
            <a:endParaRPr lang="en-US" sz="1900" dirty="0"/>
          </a:p>
        </p:txBody>
      </p:sp>
      <p:sp>
        <p:nvSpPr>
          <p:cNvPr id="28" name="Text 22"/>
          <p:cNvSpPr/>
          <p:nvPr/>
        </p:nvSpPr>
        <p:spPr>
          <a:xfrm>
            <a:off x="3063240" y="5230368"/>
            <a:ext cx="2103120" cy="548640"/>
          </a:xfrm>
          <a:prstGeom prst="rect">
            <a:avLst/>
          </a:prstGeom>
          <a:noFill/>
          <a:ln/>
        </p:spPr>
        <p:txBody>
          <a:bodyPr wrap="square" lIns="0" tIns="0" rIns="0" bIns="0" rtlCol="0" anchor="ctr"/>
          <a:lstStyle/>
          <a:p>
            <a:pPr marL="0" indent="0" algn="ctr">
              <a:buNone/>
            </a:pPr>
            <a:r>
              <a:rPr lang="en-US" sz="1000" dirty="0">
                <a:solidFill>
                  <a:srgbClr val="F4ECE2"/>
                </a:solidFill>
                <a:latin typeface="Calibri" pitchFamily="34" charset="0"/>
                <a:ea typeface="Calibri" pitchFamily="34" charset="-122"/>
                <a:cs typeface="Calibri" pitchFamily="34" charset="-120"/>
              </a:rPr>
              <a:t>Firma beklentisi (payback)</a:t>
            </a:r>
            <a:endParaRPr lang="en-US" sz="1000" dirty="0"/>
          </a:p>
        </p:txBody>
      </p:sp>
      <p:sp>
        <p:nvSpPr>
          <p:cNvPr id="29" name="Text 23"/>
          <p:cNvSpPr/>
          <p:nvPr/>
        </p:nvSpPr>
        <p:spPr>
          <a:xfrm>
            <a:off x="5257800" y="4754880"/>
            <a:ext cx="2103120" cy="457200"/>
          </a:xfrm>
          <a:prstGeom prst="rect">
            <a:avLst/>
          </a:prstGeom>
          <a:noFill/>
          <a:ln/>
        </p:spPr>
        <p:txBody>
          <a:bodyPr wrap="square" lIns="0" tIns="0" rIns="0" bIns="0" rtlCol="0" anchor="ctr"/>
          <a:lstStyle/>
          <a:p>
            <a:pPr marL="0" indent="0" algn="ctr">
              <a:buNone/>
            </a:pPr>
            <a:r>
              <a:rPr lang="en-US" sz="2200" b="1" dirty="0">
                <a:solidFill>
                  <a:srgbClr val="C8902B"/>
                </a:solidFill>
                <a:latin typeface="Cambria" pitchFamily="34" charset="0"/>
                <a:ea typeface="Cambria" pitchFamily="34" charset="-122"/>
                <a:cs typeface="Cambria" pitchFamily="34" charset="-120"/>
              </a:rPr>
              <a:t>6,5 yıl &gt; 3 yıl</a:t>
            </a:r>
            <a:endParaRPr lang="en-US" sz="2200" dirty="0"/>
          </a:p>
        </p:txBody>
      </p:sp>
      <p:sp>
        <p:nvSpPr>
          <p:cNvPr id="30" name="Text 24"/>
          <p:cNvSpPr/>
          <p:nvPr/>
        </p:nvSpPr>
        <p:spPr>
          <a:xfrm>
            <a:off x="5257800" y="5230368"/>
            <a:ext cx="2103120" cy="548640"/>
          </a:xfrm>
          <a:prstGeom prst="rect">
            <a:avLst/>
          </a:prstGeom>
          <a:noFill/>
          <a:ln/>
        </p:spPr>
        <p:txBody>
          <a:bodyPr wrap="square" lIns="0" tIns="0" rIns="0" bIns="0" rtlCol="0" anchor="ctr"/>
          <a:lstStyle/>
          <a:p>
            <a:pPr marL="0" indent="0" algn="ctr">
              <a:buNone/>
            </a:pPr>
            <a:r>
              <a:rPr lang="en-US" sz="1000" dirty="0">
                <a:solidFill>
                  <a:srgbClr val="F4ECE2"/>
                </a:solidFill>
                <a:latin typeface="Calibri" pitchFamily="34" charset="0"/>
                <a:ea typeface="Calibri" pitchFamily="34" charset="-122"/>
                <a:cs typeface="Calibri" pitchFamily="34" charset="-120"/>
              </a:rPr>
              <a:t>Beklentinin üzerinde kalıyor</a:t>
            </a:r>
            <a:endParaRPr lang="en-US" sz="1000" dirty="0"/>
          </a:p>
        </p:txBody>
      </p:sp>
      <p:sp>
        <p:nvSpPr>
          <p:cNvPr id="31" name="Text 25"/>
          <p:cNvSpPr/>
          <p:nvPr/>
        </p:nvSpPr>
        <p:spPr>
          <a:xfrm>
            <a:off x="868680" y="5715000"/>
            <a:ext cx="6217920" cy="274320"/>
          </a:xfrm>
          <a:prstGeom prst="rect">
            <a:avLst/>
          </a:prstGeom>
          <a:noFill/>
          <a:ln/>
        </p:spPr>
        <p:txBody>
          <a:bodyPr wrap="square" lIns="0" tIns="0" rIns="0" bIns="0" rtlCol="0" anchor="ctr"/>
          <a:lstStyle/>
          <a:p>
            <a:pPr marL="0" indent="0" algn="ctr">
              <a:buNone/>
            </a:pPr>
            <a:r>
              <a:rPr lang="en-US" sz="900" i="1" dirty="0">
                <a:solidFill>
                  <a:srgbClr val="A26769"/>
                </a:solidFill>
                <a:latin typeface="Calibri" pitchFamily="34" charset="0"/>
                <a:ea typeface="Calibri" pitchFamily="34" charset="-122"/>
                <a:cs typeface="Calibri" pitchFamily="34" charset="-120"/>
              </a:rPr>
              <a:t>Kesinleşmiş bir yatırım kararı değil — pilot senaryo düzeyinde bir karar destek çıktısı</a:t>
            </a:r>
            <a:endParaRPr lang="en-US" sz="900" dirty="0"/>
          </a:p>
        </p:txBody>
      </p:sp>
      <p:sp>
        <p:nvSpPr>
          <p:cNvPr id="32" name="Shape 26"/>
          <p:cNvSpPr/>
          <p:nvPr/>
        </p:nvSpPr>
        <p:spPr>
          <a:xfrm>
            <a:off x="7589520" y="3749040"/>
            <a:ext cx="4023360" cy="2286000"/>
          </a:xfrm>
          <a:prstGeom prst="roundRect">
            <a:avLst>
              <a:gd name="adj" fmla="val 3600"/>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33" name="Shape 27"/>
          <p:cNvSpPr/>
          <p:nvPr/>
        </p:nvSpPr>
        <p:spPr>
          <a:xfrm>
            <a:off x="7863840" y="4041648"/>
            <a:ext cx="640080" cy="64008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4" name="Image 4" descr="preencoded.png"/>
          <p:cNvPicPr>
            <a:picLocks noChangeAspect="1"/>
          </p:cNvPicPr>
          <p:nvPr/>
        </p:nvPicPr>
        <p:blipFill>
          <a:blip r:embed="rId7"/>
          <a:stretch>
            <a:fillRect/>
          </a:stretch>
        </p:blipFill>
        <p:spPr>
          <a:xfrm>
            <a:off x="8030261" y="4208069"/>
            <a:ext cx="307238" cy="307238"/>
          </a:xfrm>
          <a:prstGeom prst="rect">
            <a:avLst/>
          </a:prstGeom>
        </p:spPr>
      </p:pic>
      <p:sp>
        <p:nvSpPr>
          <p:cNvPr id="35" name="Text 28"/>
          <p:cNvSpPr/>
          <p:nvPr/>
        </p:nvSpPr>
        <p:spPr>
          <a:xfrm>
            <a:off x="8641080" y="4069080"/>
            <a:ext cx="2743200" cy="502920"/>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Kritik Nokta</a:t>
            </a:r>
            <a:endParaRPr lang="en-US" sz="1500" dirty="0"/>
          </a:p>
        </p:txBody>
      </p:sp>
      <p:sp>
        <p:nvSpPr>
          <p:cNvPr id="36" name="Text 29"/>
          <p:cNvSpPr/>
          <p:nvPr/>
        </p:nvSpPr>
        <p:spPr>
          <a:xfrm>
            <a:off x="7882128" y="4754880"/>
            <a:ext cx="3657600" cy="1188720"/>
          </a:xfrm>
          <a:prstGeom prst="rect">
            <a:avLst/>
          </a:prstGeom>
          <a:noFill/>
          <a:ln/>
        </p:spPr>
        <p:txBody>
          <a:bodyPr wrap="square" lIns="0" tIns="0" rIns="0" bIns="0" rtlCol="0" anchor="ctr"/>
          <a:lstStyle/>
          <a:p>
            <a:pPr marL="0" indent="0">
              <a:lnSpc>
                <a:spcPct val="105000"/>
              </a:lnSpc>
              <a:buNone/>
            </a:pPr>
            <a:r>
              <a:rPr lang="en-US" sz="1600" b="1" dirty="0">
                <a:solidFill>
                  <a:srgbClr val="2B2024"/>
                </a:solidFill>
                <a:latin typeface="Calibri" pitchFamily="34" charset="0"/>
                <a:ea typeface="Calibri" pitchFamily="34" charset="-122"/>
                <a:cs typeface="Calibri" pitchFamily="34" charset="-120"/>
              </a:rPr>
              <a:t>TCO Kapsamı</a:t>
            </a:r>
            <a:endParaRPr lang="en-US" sz="1600" dirty="0"/>
          </a:p>
          <a:p>
            <a:pPr marL="0" indent="0">
              <a:lnSpc>
                <a:spcPct val="105000"/>
              </a:lnSpc>
              <a:buNone/>
            </a:pPr>
            <a:r>
              <a:rPr lang="en-US" sz="1200" dirty="0">
                <a:solidFill>
                  <a:srgbClr val="7A6B6F"/>
                </a:solidFill>
                <a:latin typeface="Calibri" pitchFamily="34" charset="0"/>
                <a:ea typeface="Calibri" pitchFamily="34" charset="-122"/>
                <a:cs typeface="Calibri" pitchFamily="34" charset="-120"/>
              </a:rPr>
              <a:t>Bakım, sigorta, amortisman gibi kalemler modele dahil değil — </a:t>
            </a:r>
            <a:r>
              <a:rPr lang="en-US" sz="1200" b="1" dirty="0">
                <a:solidFill>
                  <a:srgbClr val="6D2E46"/>
                </a:solidFill>
                <a:latin typeface="Calibri" pitchFamily="34" charset="0"/>
                <a:ea typeface="Calibri" pitchFamily="34" charset="-122"/>
                <a:cs typeface="Calibri" pitchFamily="34" charset="-120"/>
              </a:rPr>
              <a:t>gerçek TCO</a:t>
            </a:r>
            <a:endParaRPr lang="en-US" sz="1600" dirty="0"/>
          </a:p>
          <a:p>
            <a:pPr marL="0" indent="0">
              <a:lnSpc>
                <a:spcPct val="105000"/>
              </a:lnSpc>
              <a:buNone/>
            </a:pPr>
            <a:r>
              <a:rPr lang="en-US" sz="1150" i="1" dirty="0">
                <a:solidFill>
                  <a:srgbClr val="2B2024"/>
                </a:solidFill>
                <a:latin typeface="Calibri" pitchFamily="34" charset="0"/>
                <a:ea typeface="Calibri" pitchFamily="34" charset="-122"/>
                <a:cs typeface="Calibri" pitchFamily="34" charset="-120"/>
              </a:rPr>
              <a:t>ile geri dönüş süresi bu değerden farklılaşabilir.</a:t>
            </a:r>
            <a:endParaRPr lang="en-US" sz="1600" dirty="0"/>
          </a:p>
        </p:txBody>
      </p:sp>
      <p:sp>
        <p:nvSpPr>
          <p:cNvPr id="37" name="Text 30"/>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11</a:t>
            </a:r>
            <a:endParaRPr lang="en-US" sz="1000" dirty="0"/>
          </a:p>
        </p:txBody>
      </p:sp>
      <p:sp>
        <p:nvSpPr>
          <p:cNvPr id="38" name="Text 31"/>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KISITLAR</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Gerçekçi Kısıtlar Açısından Değerlendirme</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Rota performansı tek başına yeterli değil</a:t>
            </a:r>
            <a:endParaRPr lang="en-US" sz="1400" dirty="0"/>
          </a:p>
        </p:txBody>
      </p:sp>
      <p:sp>
        <p:nvSpPr>
          <p:cNvPr id="6" name="Shape 4"/>
          <p:cNvSpPr/>
          <p:nvPr/>
        </p:nvSpPr>
        <p:spPr>
          <a:xfrm>
            <a:off x="548640" y="22402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7" name="Shape 5"/>
          <p:cNvSpPr/>
          <p:nvPr/>
        </p:nvSpPr>
        <p:spPr>
          <a:xfrm>
            <a:off x="804672" y="2514600"/>
            <a:ext cx="658368" cy="658368"/>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975848" y="2685776"/>
            <a:ext cx="316017" cy="316017"/>
          </a:xfrm>
          <a:prstGeom prst="rect">
            <a:avLst/>
          </a:prstGeom>
        </p:spPr>
      </p:pic>
      <p:sp>
        <p:nvSpPr>
          <p:cNvPr id="9" name="Text 6"/>
          <p:cNvSpPr/>
          <p:nvPr/>
        </p:nvSpPr>
        <p:spPr>
          <a:xfrm>
            <a:off x="1627632" y="25328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Ekonomik</a:t>
            </a:r>
            <a:endParaRPr lang="en-US" sz="1500" dirty="0"/>
          </a:p>
        </p:txBody>
      </p:sp>
      <p:sp>
        <p:nvSpPr>
          <p:cNvPr id="10" name="Text 7"/>
          <p:cNvSpPr/>
          <p:nvPr/>
        </p:nvSpPr>
        <p:spPr>
          <a:xfrm>
            <a:off x="822960" y="32004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Araç yatırımı 5M TL/araç; outsource fiyatı ±%20 bandında dalgalanabilir</a:t>
            </a:r>
            <a:endParaRPr lang="en-US" sz="1100" dirty="0"/>
          </a:p>
        </p:txBody>
      </p:sp>
      <p:sp>
        <p:nvSpPr>
          <p:cNvPr id="11" name="Shape 8"/>
          <p:cNvSpPr/>
          <p:nvPr/>
        </p:nvSpPr>
        <p:spPr>
          <a:xfrm>
            <a:off x="4306824" y="22402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2" name="Shape 9"/>
          <p:cNvSpPr/>
          <p:nvPr/>
        </p:nvSpPr>
        <p:spPr>
          <a:xfrm>
            <a:off x="4562856" y="2514600"/>
            <a:ext cx="658368" cy="658368"/>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3" name="Image 1" descr="preencoded.png"/>
          <p:cNvPicPr>
            <a:picLocks noChangeAspect="1"/>
          </p:cNvPicPr>
          <p:nvPr/>
        </p:nvPicPr>
        <p:blipFill>
          <a:blip r:embed="rId4"/>
          <a:stretch>
            <a:fillRect/>
          </a:stretch>
        </p:blipFill>
        <p:spPr>
          <a:xfrm>
            <a:off x="4734032" y="2685776"/>
            <a:ext cx="316017" cy="316017"/>
          </a:xfrm>
          <a:prstGeom prst="rect">
            <a:avLst/>
          </a:prstGeom>
        </p:spPr>
      </p:pic>
      <p:sp>
        <p:nvSpPr>
          <p:cNvPr id="14" name="Text 10"/>
          <p:cNvSpPr/>
          <p:nvPr/>
        </p:nvSpPr>
        <p:spPr>
          <a:xfrm>
            <a:off x="5385816" y="25328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Operasyonel</a:t>
            </a:r>
            <a:endParaRPr lang="en-US" sz="1500" dirty="0"/>
          </a:p>
        </p:txBody>
      </p:sp>
      <p:sp>
        <p:nvSpPr>
          <p:cNvPr id="15" name="Text 11"/>
          <p:cNvSpPr/>
          <p:nvPr/>
        </p:nvSpPr>
        <p:spPr>
          <a:xfrm>
            <a:off x="4581144" y="32004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Mevcut depo altyapısıyla entegrasyon; AVM zaman pencereleri modele dahil değil</a:t>
            </a:r>
            <a:endParaRPr lang="en-US" sz="1100" dirty="0"/>
          </a:p>
        </p:txBody>
      </p:sp>
      <p:sp>
        <p:nvSpPr>
          <p:cNvPr id="16" name="Shape 12"/>
          <p:cNvSpPr/>
          <p:nvPr/>
        </p:nvSpPr>
        <p:spPr>
          <a:xfrm>
            <a:off x="8065008" y="22402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7" name="Shape 13"/>
          <p:cNvSpPr/>
          <p:nvPr/>
        </p:nvSpPr>
        <p:spPr>
          <a:xfrm>
            <a:off x="8321040" y="2514600"/>
            <a:ext cx="658368" cy="658368"/>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18" name="Image 2" descr="preencoded.png"/>
          <p:cNvPicPr>
            <a:picLocks noChangeAspect="1"/>
          </p:cNvPicPr>
          <p:nvPr/>
        </p:nvPicPr>
        <p:blipFill>
          <a:blip r:embed="rId5"/>
          <a:stretch>
            <a:fillRect/>
          </a:stretch>
        </p:blipFill>
        <p:spPr>
          <a:xfrm>
            <a:off x="8492216" y="2685776"/>
            <a:ext cx="316017" cy="316017"/>
          </a:xfrm>
          <a:prstGeom prst="rect">
            <a:avLst/>
          </a:prstGeom>
        </p:spPr>
      </p:pic>
      <p:sp>
        <p:nvSpPr>
          <p:cNvPr id="19" name="Text 14"/>
          <p:cNvSpPr/>
          <p:nvPr/>
        </p:nvSpPr>
        <p:spPr>
          <a:xfrm>
            <a:off x="9144000" y="25328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Teknolojik</a:t>
            </a:r>
            <a:endParaRPr lang="en-US" sz="1500" dirty="0"/>
          </a:p>
        </p:txBody>
      </p:sp>
      <p:sp>
        <p:nvSpPr>
          <p:cNvPr id="20" name="Text 15"/>
          <p:cNvSpPr/>
          <p:nvPr/>
        </p:nvSpPr>
        <p:spPr>
          <a:xfrm>
            <a:off x="8339328" y="32004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OSRM + OR-Tools altyapısı; gerçek zamanlı trafik verisi kullanılmıyor (sınırlılık)</a:t>
            </a:r>
            <a:endParaRPr lang="en-US" sz="1100" dirty="0"/>
          </a:p>
        </p:txBody>
      </p:sp>
      <p:sp>
        <p:nvSpPr>
          <p:cNvPr id="21" name="Shape 16"/>
          <p:cNvSpPr/>
          <p:nvPr/>
        </p:nvSpPr>
        <p:spPr>
          <a:xfrm>
            <a:off x="548640" y="40690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2" name="Shape 17"/>
          <p:cNvSpPr/>
          <p:nvPr/>
        </p:nvSpPr>
        <p:spPr>
          <a:xfrm>
            <a:off x="804672" y="4343400"/>
            <a:ext cx="658368" cy="658368"/>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23" name="Image 3" descr="preencoded.png"/>
          <p:cNvPicPr>
            <a:picLocks noChangeAspect="1"/>
          </p:cNvPicPr>
          <p:nvPr/>
        </p:nvPicPr>
        <p:blipFill>
          <a:blip r:embed="rId6"/>
          <a:stretch>
            <a:fillRect/>
          </a:stretch>
        </p:blipFill>
        <p:spPr>
          <a:xfrm>
            <a:off x="975848" y="4514576"/>
            <a:ext cx="316017" cy="316017"/>
          </a:xfrm>
          <a:prstGeom prst="rect">
            <a:avLst/>
          </a:prstGeom>
        </p:spPr>
      </p:pic>
      <p:sp>
        <p:nvSpPr>
          <p:cNvPr id="24" name="Text 18"/>
          <p:cNvSpPr/>
          <p:nvPr/>
        </p:nvSpPr>
        <p:spPr>
          <a:xfrm>
            <a:off x="1627632" y="43616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Çevresel</a:t>
            </a:r>
            <a:endParaRPr lang="en-US" sz="1500" dirty="0"/>
          </a:p>
        </p:txBody>
      </p:sp>
      <p:sp>
        <p:nvSpPr>
          <p:cNvPr id="25" name="Text 19"/>
          <p:cNvSpPr/>
          <p:nvPr/>
        </p:nvSpPr>
        <p:spPr>
          <a:xfrm>
            <a:off x="822960" y="50292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Daha az araç-km sağlar; CO₂ emisyonu ayrıca hesaplanmadı</a:t>
            </a:r>
            <a:endParaRPr lang="en-US" sz="1100" dirty="0"/>
          </a:p>
        </p:txBody>
      </p:sp>
      <p:sp>
        <p:nvSpPr>
          <p:cNvPr id="26" name="Shape 20"/>
          <p:cNvSpPr/>
          <p:nvPr/>
        </p:nvSpPr>
        <p:spPr>
          <a:xfrm>
            <a:off x="4306824" y="40690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7" name="Shape 21"/>
          <p:cNvSpPr/>
          <p:nvPr/>
        </p:nvSpPr>
        <p:spPr>
          <a:xfrm>
            <a:off x="4562856" y="4343400"/>
            <a:ext cx="658368" cy="658368"/>
          </a:xfrm>
          <a:prstGeom prst="ellipse">
            <a:avLst/>
          </a:prstGeom>
          <a:solidFill>
            <a:srgbClr val="6D2E46"/>
          </a:solidFill>
          <a:ln/>
          <a:effectLst>
            <a:outerShdw blurRad="63500" dist="25400" dir="5400000" algn="bl" rotWithShape="0">
              <a:srgbClr val="000000">
                <a:alpha val="10000"/>
              </a:srgbClr>
            </a:outerShdw>
          </a:effectLst>
        </p:spPr>
        <p:txBody>
          <a:bodyPr/>
          <a:lstStyle/>
          <a:p>
            <a:endParaRPr lang="tr-TR"/>
          </a:p>
        </p:txBody>
      </p:sp>
      <p:pic>
        <p:nvPicPr>
          <p:cNvPr id="28" name="Image 4" descr="preencoded.png"/>
          <p:cNvPicPr>
            <a:picLocks noChangeAspect="1"/>
          </p:cNvPicPr>
          <p:nvPr/>
        </p:nvPicPr>
        <p:blipFill>
          <a:blip r:embed="rId7"/>
          <a:stretch>
            <a:fillRect/>
          </a:stretch>
        </p:blipFill>
        <p:spPr>
          <a:xfrm>
            <a:off x="4734032" y="4514576"/>
            <a:ext cx="316017" cy="316017"/>
          </a:xfrm>
          <a:prstGeom prst="rect">
            <a:avLst/>
          </a:prstGeom>
        </p:spPr>
      </p:pic>
      <p:sp>
        <p:nvSpPr>
          <p:cNvPr id="29" name="Text 22"/>
          <p:cNvSpPr/>
          <p:nvPr/>
        </p:nvSpPr>
        <p:spPr>
          <a:xfrm>
            <a:off x="5385816" y="43616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Sosyal</a:t>
            </a:r>
            <a:endParaRPr lang="en-US" sz="1500" dirty="0"/>
          </a:p>
        </p:txBody>
      </p:sp>
      <p:sp>
        <p:nvSpPr>
          <p:cNvPr id="30" name="Text 23"/>
          <p:cNvSpPr/>
          <p:nvPr/>
        </p:nvSpPr>
        <p:spPr>
          <a:xfrm>
            <a:off x="4581144" y="50292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Sürücü çalışma süresi mevzuatına uyum (540 dk kontrolü)</a:t>
            </a:r>
            <a:endParaRPr lang="en-US" sz="1100" dirty="0"/>
          </a:p>
        </p:txBody>
      </p:sp>
      <p:sp>
        <p:nvSpPr>
          <p:cNvPr id="31" name="Shape 24"/>
          <p:cNvSpPr/>
          <p:nvPr/>
        </p:nvSpPr>
        <p:spPr>
          <a:xfrm>
            <a:off x="8065008" y="4069080"/>
            <a:ext cx="3593592" cy="1627632"/>
          </a:xfrm>
          <a:prstGeom prst="roundRect">
            <a:avLst>
              <a:gd name="adj" fmla="val 4494"/>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32" name="Shape 25"/>
          <p:cNvSpPr/>
          <p:nvPr/>
        </p:nvSpPr>
        <p:spPr>
          <a:xfrm>
            <a:off x="8321040" y="4343400"/>
            <a:ext cx="658368" cy="658368"/>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33" name="Image 5" descr="preencoded.png"/>
          <p:cNvPicPr>
            <a:picLocks noChangeAspect="1"/>
          </p:cNvPicPr>
          <p:nvPr/>
        </p:nvPicPr>
        <p:blipFill>
          <a:blip r:embed="rId8"/>
          <a:stretch>
            <a:fillRect/>
          </a:stretch>
        </p:blipFill>
        <p:spPr>
          <a:xfrm>
            <a:off x="8492216" y="4514576"/>
            <a:ext cx="316017" cy="316017"/>
          </a:xfrm>
          <a:prstGeom prst="rect">
            <a:avLst/>
          </a:prstGeom>
        </p:spPr>
      </p:pic>
      <p:sp>
        <p:nvSpPr>
          <p:cNvPr id="34" name="Text 26"/>
          <p:cNvSpPr/>
          <p:nvPr/>
        </p:nvSpPr>
        <p:spPr>
          <a:xfrm>
            <a:off x="9144000" y="4361688"/>
            <a:ext cx="2313432" cy="548640"/>
          </a:xfrm>
          <a:prstGeom prst="rect">
            <a:avLst/>
          </a:prstGeom>
          <a:noFill/>
          <a:ln/>
        </p:spPr>
        <p:txBody>
          <a:bodyPr wrap="square" lIns="0" tIns="0" rIns="0" bIns="0" rtlCol="0" anchor="ctr"/>
          <a:lstStyle/>
          <a:p>
            <a:pPr marL="0" indent="0">
              <a:buNone/>
            </a:pPr>
            <a:r>
              <a:rPr lang="en-US" sz="1500" b="1" dirty="0">
                <a:solidFill>
                  <a:srgbClr val="2B2024"/>
                </a:solidFill>
                <a:latin typeface="Calibri" pitchFamily="34" charset="0"/>
                <a:ea typeface="Calibri" pitchFamily="34" charset="-122"/>
                <a:cs typeface="Calibri" pitchFamily="34" charset="-120"/>
              </a:rPr>
              <a:t>Yasal</a:t>
            </a:r>
            <a:endParaRPr lang="en-US" sz="1500" dirty="0"/>
          </a:p>
        </p:txBody>
      </p:sp>
      <p:sp>
        <p:nvSpPr>
          <p:cNvPr id="35" name="Text 27"/>
          <p:cNvSpPr/>
          <p:nvPr/>
        </p:nvSpPr>
        <p:spPr>
          <a:xfrm>
            <a:off x="8339328" y="5029200"/>
            <a:ext cx="3090672" cy="594360"/>
          </a:xfrm>
          <a:prstGeom prst="rect">
            <a:avLst/>
          </a:prstGeom>
          <a:noFill/>
          <a:ln/>
        </p:spPr>
        <p:txBody>
          <a:bodyPr wrap="square" lIns="0" tIns="0" rIns="0" bIns="0" rtlCol="0" anchor="ctr"/>
          <a:lstStyle/>
          <a:p>
            <a:pPr marL="0" indent="0">
              <a:lnSpc>
                <a:spcPct val="100000"/>
              </a:lnSpc>
              <a:buNone/>
            </a:pPr>
            <a:r>
              <a:rPr lang="en-US" sz="1100" dirty="0">
                <a:solidFill>
                  <a:srgbClr val="7A6B6F"/>
                </a:solidFill>
                <a:latin typeface="Calibri" pitchFamily="34" charset="0"/>
                <a:ea typeface="Calibri" pitchFamily="34" charset="-122"/>
                <a:cs typeface="Calibri" pitchFamily="34" charset="-120"/>
              </a:rPr>
              <a:t>İş güvenliği, trafik ve sürücü çalışma düzenlemeleri</a:t>
            </a:r>
            <a:endParaRPr lang="en-US" sz="1100" dirty="0"/>
          </a:p>
        </p:txBody>
      </p:sp>
      <p:sp>
        <p:nvSpPr>
          <p:cNvPr id="36" name="Text 28"/>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12</a:t>
            </a:r>
            <a:endParaRPr lang="en-US" sz="1000" dirty="0"/>
          </a:p>
        </p:txBody>
      </p:sp>
      <p:sp>
        <p:nvSpPr>
          <p:cNvPr id="37" name="Text 29"/>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SÜRDÜRÜLEBİLİRLİK</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Sürdürülebilir Kalkınma Hedeflerine Katkı</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En güçlü bağ: Hedef 13 — İklim Eylemi</a:t>
            </a:r>
            <a:endParaRPr lang="en-US" sz="1400" dirty="0"/>
          </a:p>
        </p:txBody>
      </p:sp>
      <p:sp>
        <p:nvSpPr>
          <p:cNvPr id="6" name="Shape 4"/>
          <p:cNvSpPr/>
          <p:nvPr/>
        </p:nvSpPr>
        <p:spPr>
          <a:xfrm>
            <a:off x="548640" y="2240280"/>
            <a:ext cx="4572000" cy="3749040"/>
          </a:xfrm>
          <a:prstGeom prst="roundRect">
            <a:avLst>
              <a:gd name="adj" fmla="val 2439"/>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7" name="Text 5"/>
          <p:cNvSpPr/>
          <p:nvPr/>
        </p:nvSpPr>
        <p:spPr>
          <a:xfrm>
            <a:off x="777240" y="2468880"/>
            <a:ext cx="1828800" cy="1188720"/>
          </a:xfrm>
          <a:prstGeom prst="rect">
            <a:avLst/>
          </a:prstGeom>
          <a:noFill/>
          <a:ln/>
        </p:spPr>
        <p:txBody>
          <a:bodyPr wrap="square" lIns="0" tIns="0" rIns="0" bIns="0" rtlCol="0" anchor="ctr"/>
          <a:lstStyle/>
          <a:p>
            <a:pPr marL="0" indent="0">
              <a:buNone/>
            </a:pPr>
            <a:r>
              <a:rPr lang="en-US" sz="7200" b="1" dirty="0">
                <a:solidFill>
                  <a:srgbClr val="C8902B"/>
                </a:solidFill>
                <a:latin typeface="Cambria" pitchFamily="34" charset="0"/>
                <a:ea typeface="Cambria" pitchFamily="34" charset="-122"/>
                <a:cs typeface="Cambria" pitchFamily="34" charset="-120"/>
              </a:rPr>
              <a:t>13</a:t>
            </a:r>
            <a:endParaRPr lang="en-US" sz="7200" dirty="0"/>
          </a:p>
        </p:txBody>
      </p:sp>
      <p:sp>
        <p:nvSpPr>
          <p:cNvPr id="8" name="Text 6"/>
          <p:cNvSpPr/>
          <p:nvPr/>
        </p:nvSpPr>
        <p:spPr>
          <a:xfrm>
            <a:off x="822960" y="3657600"/>
            <a:ext cx="3566160" cy="7315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İklim Eylemi</a:t>
            </a:r>
            <a:endParaRPr lang="en-US" sz="2000" dirty="0"/>
          </a:p>
        </p:txBody>
      </p:sp>
      <p:sp>
        <p:nvSpPr>
          <p:cNvPr id="9" name="Text 7"/>
          <p:cNvSpPr/>
          <p:nvPr/>
        </p:nvSpPr>
        <p:spPr>
          <a:xfrm>
            <a:off x="822960" y="4526280"/>
            <a:ext cx="3657600" cy="1280160"/>
          </a:xfrm>
          <a:prstGeom prst="rect">
            <a:avLst/>
          </a:prstGeom>
          <a:noFill/>
          <a:ln/>
        </p:spPr>
        <p:txBody>
          <a:bodyPr wrap="square" lIns="0" tIns="0" rIns="0" bIns="0" rtlCol="0" anchor="ctr"/>
          <a:lstStyle/>
          <a:p>
            <a:pPr marL="0" indent="0">
              <a:lnSpc>
                <a:spcPct val="110000"/>
              </a:lnSpc>
              <a:buNone/>
            </a:pPr>
            <a:r>
              <a:rPr lang="en-US" sz="1250" i="1" dirty="0">
                <a:solidFill>
                  <a:srgbClr val="F4ECE2"/>
                </a:solidFill>
                <a:latin typeface="Calibri" pitchFamily="34" charset="0"/>
                <a:ea typeface="Calibri" pitchFamily="34" charset="-122"/>
                <a:cs typeface="Calibri" pitchFamily="34" charset="-120"/>
              </a:rPr>
              <a:t>Toplam rota mesafesinin minimize edilmesi (1.086,4 km) yakıt tüketimi ve karbon salımının azalmasına katkı sağlar; transfer merkezi ara katmanının devre dışı bırakılması gereksiz araç hareketini azaltır.</a:t>
            </a:r>
            <a:endParaRPr lang="en-US" sz="1250" dirty="0"/>
          </a:p>
        </p:txBody>
      </p:sp>
      <p:sp>
        <p:nvSpPr>
          <p:cNvPr id="10" name="Shape 8"/>
          <p:cNvSpPr/>
          <p:nvPr/>
        </p:nvSpPr>
        <p:spPr>
          <a:xfrm>
            <a:off x="5440680" y="2240280"/>
            <a:ext cx="6172200" cy="676656"/>
          </a:xfrm>
          <a:prstGeom prst="roundRect">
            <a:avLst>
              <a:gd name="adj" fmla="val 9459"/>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1" name="Shape 9"/>
          <p:cNvSpPr/>
          <p:nvPr/>
        </p:nvSpPr>
        <p:spPr>
          <a:xfrm>
            <a:off x="5586984" y="2359152"/>
            <a:ext cx="438912" cy="438912"/>
          </a:xfrm>
          <a:prstGeom prst="ellipse">
            <a:avLst/>
          </a:prstGeom>
          <a:solidFill>
            <a:srgbClr val="A26769"/>
          </a:solidFill>
          <a:ln/>
        </p:spPr>
        <p:txBody>
          <a:bodyPr/>
          <a:lstStyle/>
          <a:p>
            <a:endParaRPr lang="tr-TR"/>
          </a:p>
        </p:txBody>
      </p:sp>
      <p:sp>
        <p:nvSpPr>
          <p:cNvPr id="12" name="Text 10"/>
          <p:cNvSpPr/>
          <p:nvPr/>
        </p:nvSpPr>
        <p:spPr>
          <a:xfrm>
            <a:off x="5586984" y="235915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13" name="Text 11"/>
          <p:cNvSpPr/>
          <p:nvPr/>
        </p:nvSpPr>
        <p:spPr>
          <a:xfrm>
            <a:off x="6153912" y="2322576"/>
            <a:ext cx="5303520" cy="329184"/>
          </a:xfrm>
          <a:prstGeom prst="rect">
            <a:avLst/>
          </a:prstGeom>
          <a:noFill/>
          <a:ln/>
        </p:spPr>
        <p:txBody>
          <a:bodyPr wrap="square" lIns="0" tIns="0" rIns="0" bIns="0" rtlCol="0" anchor="ctr"/>
          <a:lstStyle/>
          <a:p>
            <a:pPr marL="0" indent="0">
              <a:buNone/>
            </a:pPr>
            <a:r>
              <a:rPr lang="en-US" sz="1300" b="1" dirty="0">
                <a:solidFill>
                  <a:srgbClr val="2B2024"/>
                </a:solidFill>
                <a:latin typeface="Calibri" pitchFamily="34" charset="0"/>
                <a:ea typeface="Calibri" pitchFamily="34" charset="-122"/>
                <a:cs typeface="Calibri" pitchFamily="34" charset="-120"/>
              </a:rPr>
              <a:t>İnsana Yakışır İş &amp; Büyüme</a:t>
            </a:r>
            <a:endParaRPr lang="en-US" sz="1300" dirty="0"/>
          </a:p>
        </p:txBody>
      </p:sp>
      <p:sp>
        <p:nvSpPr>
          <p:cNvPr id="14" name="Text 12"/>
          <p:cNvSpPr/>
          <p:nvPr/>
        </p:nvSpPr>
        <p:spPr>
          <a:xfrm>
            <a:off x="6153912" y="2606040"/>
            <a:ext cx="5303520" cy="274320"/>
          </a:xfrm>
          <a:prstGeom prst="rect">
            <a:avLst/>
          </a:prstGeom>
          <a:noFill/>
          <a:ln/>
        </p:spPr>
        <p:txBody>
          <a:bodyPr wrap="square" lIns="0" tIns="0" rIns="0" bIns="0" rtlCol="0" anchor="ctr"/>
          <a:lstStyle/>
          <a:p>
            <a:pPr marL="0" indent="0">
              <a:buNone/>
            </a:pPr>
            <a:r>
              <a:rPr lang="en-US" sz="1000" dirty="0">
                <a:solidFill>
                  <a:srgbClr val="7A6B6F"/>
                </a:solidFill>
                <a:latin typeface="Calibri" pitchFamily="34" charset="0"/>
                <a:ea typeface="Calibri" pitchFamily="34" charset="-122"/>
                <a:cs typeface="Calibri" pitchFamily="34" charset="-120"/>
              </a:rPr>
              <a:t>Sürücü çalışma süresi sınırı (540 dk) rota düzeyinde güvence altında</a:t>
            </a:r>
            <a:endParaRPr lang="en-US" sz="1000" dirty="0"/>
          </a:p>
        </p:txBody>
      </p:sp>
      <p:sp>
        <p:nvSpPr>
          <p:cNvPr id="15" name="Shape 13"/>
          <p:cNvSpPr/>
          <p:nvPr/>
        </p:nvSpPr>
        <p:spPr>
          <a:xfrm>
            <a:off x="5440680" y="3035808"/>
            <a:ext cx="6172200" cy="676656"/>
          </a:xfrm>
          <a:prstGeom prst="roundRect">
            <a:avLst>
              <a:gd name="adj" fmla="val 9459"/>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16" name="Shape 14"/>
          <p:cNvSpPr/>
          <p:nvPr/>
        </p:nvSpPr>
        <p:spPr>
          <a:xfrm>
            <a:off x="5586984" y="3154680"/>
            <a:ext cx="438912" cy="438912"/>
          </a:xfrm>
          <a:prstGeom prst="ellipse">
            <a:avLst/>
          </a:prstGeom>
          <a:solidFill>
            <a:srgbClr val="A26769"/>
          </a:solidFill>
          <a:ln/>
        </p:spPr>
        <p:txBody>
          <a:bodyPr/>
          <a:lstStyle/>
          <a:p>
            <a:endParaRPr lang="tr-TR"/>
          </a:p>
        </p:txBody>
      </p:sp>
      <p:sp>
        <p:nvSpPr>
          <p:cNvPr id="17" name="Text 15"/>
          <p:cNvSpPr/>
          <p:nvPr/>
        </p:nvSpPr>
        <p:spPr>
          <a:xfrm>
            <a:off x="5586984" y="315468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18" name="Text 16"/>
          <p:cNvSpPr/>
          <p:nvPr/>
        </p:nvSpPr>
        <p:spPr>
          <a:xfrm>
            <a:off x="6153912" y="3118104"/>
            <a:ext cx="5303520" cy="329184"/>
          </a:xfrm>
          <a:prstGeom prst="rect">
            <a:avLst/>
          </a:prstGeom>
          <a:noFill/>
          <a:ln/>
        </p:spPr>
        <p:txBody>
          <a:bodyPr wrap="square" lIns="0" tIns="0" rIns="0" bIns="0" rtlCol="0" anchor="ctr"/>
          <a:lstStyle/>
          <a:p>
            <a:pPr marL="0" indent="0">
              <a:buNone/>
            </a:pPr>
            <a:r>
              <a:rPr lang="en-US" sz="1300" b="1" dirty="0">
                <a:solidFill>
                  <a:srgbClr val="2B2024"/>
                </a:solidFill>
                <a:latin typeface="Calibri" pitchFamily="34" charset="0"/>
                <a:ea typeface="Calibri" pitchFamily="34" charset="-122"/>
                <a:cs typeface="Calibri" pitchFamily="34" charset="-120"/>
              </a:rPr>
              <a:t>Sanayi, Yenilikçilik, Altyapı</a:t>
            </a:r>
            <a:endParaRPr lang="en-US" sz="1300" dirty="0"/>
          </a:p>
        </p:txBody>
      </p:sp>
      <p:sp>
        <p:nvSpPr>
          <p:cNvPr id="19" name="Text 17"/>
          <p:cNvSpPr/>
          <p:nvPr/>
        </p:nvSpPr>
        <p:spPr>
          <a:xfrm>
            <a:off x="6153912" y="3401568"/>
            <a:ext cx="5303520" cy="274320"/>
          </a:xfrm>
          <a:prstGeom prst="rect">
            <a:avLst/>
          </a:prstGeom>
          <a:noFill/>
          <a:ln/>
        </p:spPr>
        <p:txBody>
          <a:bodyPr wrap="square" lIns="0" tIns="0" rIns="0" bIns="0" rtlCol="0" anchor="ctr"/>
          <a:lstStyle/>
          <a:p>
            <a:pPr marL="0" indent="0">
              <a:buNone/>
            </a:pPr>
            <a:r>
              <a:rPr lang="en-US" sz="1000" dirty="0">
                <a:solidFill>
                  <a:srgbClr val="7A6B6F"/>
                </a:solidFill>
                <a:latin typeface="Calibri" pitchFamily="34" charset="0"/>
                <a:ea typeface="Calibri" pitchFamily="34" charset="-122"/>
                <a:cs typeface="Calibri" pitchFamily="34" charset="-120"/>
              </a:rPr>
              <a:t>OR-Tools tabanlı optimizasyon; manuel planlama yerine algoritmik karar desteği</a:t>
            </a:r>
            <a:endParaRPr lang="en-US" sz="1000" dirty="0"/>
          </a:p>
        </p:txBody>
      </p:sp>
      <p:sp>
        <p:nvSpPr>
          <p:cNvPr id="20" name="Shape 18"/>
          <p:cNvSpPr/>
          <p:nvPr/>
        </p:nvSpPr>
        <p:spPr>
          <a:xfrm>
            <a:off x="5440680" y="3831336"/>
            <a:ext cx="6172200" cy="676656"/>
          </a:xfrm>
          <a:prstGeom prst="roundRect">
            <a:avLst>
              <a:gd name="adj" fmla="val 9459"/>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1" name="Shape 19"/>
          <p:cNvSpPr/>
          <p:nvPr/>
        </p:nvSpPr>
        <p:spPr>
          <a:xfrm>
            <a:off x="5586984" y="3950208"/>
            <a:ext cx="438912" cy="438912"/>
          </a:xfrm>
          <a:prstGeom prst="ellipse">
            <a:avLst/>
          </a:prstGeom>
          <a:solidFill>
            <a:srgbClr val="A26769"/>
          </a:solidFill>
          <a:ln/>
        </p:spPr>
        <p:txBody>
          <a:bodyPr/>
          <a:lstStyle/>
          <a:p>
            <a:endParaRPr lang="tr-TR"/>
          </a:p>
        </p:txBody>
      </p:sp>
      <p:sp>
        <p:nvSpPr>
          <p:cNvPr id="22" name="Text 20"/>
          <p:cNvSpPr/>
          <p:nvPr/>
        </p:nvSpPr>
        <p:spPr>
          <a:xfrm>
            <a:off x="5586984" y="395020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23" name="Text 21"/>
          <p:cNvSpPr/>
          <p:nvPr/>
        </p:nvSpPr>
        <p:spPr>
          <a:xfrm>
            <a:off x="6153912" y="3913632"/>
            <a:ext cx="5303520" cy="329184"/>
          </a:xfrm>
          <a:prstGeom prst="rect">
            <a:avLst/>
          </a:prstGeom>
          <a:noFill/>
          <a:ln/>
        </p:spPr>
        <p:txBody>
          <a:bodyPr wrap="square" lIns="0" tIns="0" rIns="0" bIns="0" rtlCol="0" anchor="ctr"/>
          <a:lstStyle/>
          <a:p>
            <a:pPr marL="0" indent="0">
              <a:buNone/>
            </a:pPr>
            <a:r>
              <a:rPr lang="en-US" sz="1300" b="1" dirty="0">
                <a:solidFill>
                  <a:srgbClr val="2B2024"/>
                </a:solidFill>
                <a:latin typeface="Calibri" pitchFamily="34" charset="0"/>
                <a:ea typeface="Calibri" pitchFamily="34" charset="-122"/>
                <a:cs typeface="Calibri" pitchFamily="34" charset="-120"/>
              </a:rPr>
              <a:t>Sürdürülebilir Şehirler</a:t>
            </a:r>
            <a:endParaRPr lang="en-US" sz="1300" dirty="0"/>
          </a:p>
        </p:txBody>
      </p:sp>
      <p:sp>
        <p:nvSpPr>
          <p:cNvPr id="24" name="Text 22"/>
          <p:cNvSpPr/>
          <p:nvPr/>
        </p:nvSpPr>
        <p:spPr>
          <a:xfrm>
            <a:off x="6153912" y="4197096"/>
            <a:ext cx="5303520" cy="274320"/>
          </a:xfrm>
          <a:prstGeom prst="rect">
            <a:avLst/>
          </a:prstGeom>
          <a:noFill/>
          <a:ln/>
        </p:spPr>
        <p:txBody>
          <a:bodyPr wrap="square" lIns="0" tIns="0" rIns="0" bIns="0" rtlCol="0" anchor="ctr"/>
          <a:lstStyle/>
          <a:p>
            <a:pPr marL="0" indent="0">
              <a:buNone/>
            </a:pPr>
            <a:r>
              <a:rPr lang="en-US" sz="1000" dirty="0">
                <a:solidFill>
                  <a:srgbClr val="7A6B6F"/>
                </a:solidFill>
                <a:latin typeface="Calibri" pitchFamily="34" charset="0"/>
                <a:ea typeface="Calibri" pitchFamily="34" charset="-122"/>
                <a:cs typeface="Calibri" pitchFamily="34" charset="-120"/>
              </a:rPr>
              <a:t>Noktadan noktaya dağıtım; kentsel gereksiz araç hareketinin azalması</a:t>
            </a:r>
            <a:endParaRPr lang="en-US" sz="1000" dirty="0"/>
          </a:p>
        </p:txBody>
      </p:sp>
      <p:sp>
        <p:nvSpPr>
          <p:cNvPr id="25" name="Shape 23"/>
          <p:cNvSpPr/>
          <p:nvPr/>
        </p:nvSpPr>
        <p:spPr>
          <a:xfrm>
            <a:off x="5440680" y="4626864"/>
            <a:ext cx="6172200" cy="676656"/>
          </a:xfrm>
          <a:prstGeom prst="roundRect">
            <a:avLst>
              <a:gd name="adj" fmla="val 9459"/>
            </a:avLst>
          </a:prstGeom>
          <a:solidFill>
            <a:srgbClr val="FBF6EF"/>
          </a:solidFill>
          <a:ln/>
          <a:effectLst>
            <a:outerShdw blurRad="63500" dist="25400" dir="5400000" algn="bl" rotWithShape="0">
              <a:srgbClr val="000000">
                <a:alpha val="10000"/>
              </a:srgbClr>
            </a:outerShdw>
          </a:effectLst>
        </p:spPr>
        <p:txBody>
          <a:bodyPr/>
          <a:lstStyle/>
          <a:p>
            <a:endParaRPr lang="tr-TR"/>
          </a:p>
        </p:txBody>
      </p:sp>
      <p:sp>
        <p:nvSpPr>
          <p:cNvPr id="26" name="Shape 24"/>
          <p:cNvSpPr/>
          <p:nvPr/>
        </p:nvSpPr>
        <p:spPr>
          <a:xfrm>
            <a:off x="5586984" y="4745736"/>
            <a:ext cx="438912" cy="438912"/>
          </a:xfrm>
          <a:prstGeom prst="ellipse">
            <a:avLst/>
          </a:prstGeom>
          <a:solidFill>
            <a:srgbClr val="A26769"/>
          </a:solidFill>
          <a:ln/>
        </p:spPr>
        <p:txBody>
          <a:bodyPr/>
          <a:lstStyle/>
          <a:p>
            <a:endParaRPr lang="tr-TR"/>
          </a:p>
        </p:txBody>
      </p:sp>
      <p:sp>
        <p:nvSpPr>
          <p:cNvPr id="27" name="Text 25"/>
          <p:cNvSpPr/>
          <p:nvPr/>
        </p:nvSpPr>
        <p:spPr>
          <a:xfrm>
            <a:off x="5586984" y="474573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12</a:t>
            </a:r>
            <a:endParaRPr lang="en-US" sz="1600" dirty="0"/>
          </a:p>
        </p:txBody>
      </p:sp>
      <p:sp>
        <p:nvSpPr>
          <p:cNvPr id="28" name="Text 26"/>
          <p:cNvSpPr/>
          <p:nvPr/>
        </p:nvSpPr>
        <p:spPr>
          <a:xfrm>
            <a:off x="6153912" y="4709160"/>
            <a:ext cx="5303520" cy="329184"/>
          </a:xfrm>
          <a:prstGeom prst="rect">
            <a:avLst/>
          </a:prstGeom>
          <a:noFill/>
          <a:ln/>
        </p:spPr>
        <p:txBody>
          <a:bodyPr wrap="square" lIns="0" tIns="0" rIns="0" bIns="0" rtlCol="0" anchor="ctr"/>
          <a:lstStyle/>
          <a:p>
            <a:pPr marL="0" indent="0">
              <a:buNone/>
            </a:pPr>
            <a:r>
              <a:rPr lang="en-US" sz="1300" b="1" dirty="0">
                <a:solidFill>
                  <a:srgbClr val="2B2024"/>
                </a:solidFill>
                <a:latin typeface="Calibri" pitchFamily="34" charset="0"/>
                <a:ea typeface="Calibri" pitchFamily="34" charset="-122"/>
                <a:cs typeface="Calibri" pitchFamily="34" charset="-120"/>
              </a:rPr>
              <a:t>Sorumlu Üretim ve Tüketim</a:t>
            </a:r>
            <a:endParaRPr lang="en-US" sz="1300" dirty="0"/>
          </a:p>
        </p:txBody>
      </p:sp>
      <p:sp>
        <p:nvSpPr>
          <p:cNvPr id="29" name="Text 27"/>
          <p:cNvSpPr/>
          <p:nvPr/>
        </p:nvSpPr>
        <p:spPr>
          <a:xfrm>
            <a:off x="6153912" y="4992624"/>
            <a:ext cx="5303520" cy="274320"/>
          </a:xfrm>
          <a:prstGeom prst="rect">
            <a:avLst/>
          </a:prstGeom>
          <a:noFill/>
          <a:ln/>
        </p:spPr>
        <p:txBody>
          <a:bodyPr wrap="square" lIns="0" tIns="0" rIns="0" bIns="0" rtlCol="0" anchor="ctr"/>
          <a:lstStyle/>
          <a:p>
            <a:pPr marL="0" indent="0">
              <a:buNone/>
            </a:pPr>
            <a:r>
              <a:rPr lang="en-US" sz="1000" dirty="0">
                <a:solidFill>
                  <a:srgbClr val="7A6B6F"/>
                </a:solidFill>
                <a:latin typeface="Calibri" pitchFamily="34" charset="0"/>
                <a:ea typeface="Calibri" pitchFamily="34" charset="-122"/>
                <a:cs typeface="Calibri" pitchFamily="34" charset="-120"/>
              </a:rPr>
              <a:t>Yüksek kapasite kullanımı (%82,5 ortalama doluluk)</a:t>
            </a:r>
            <a:endParaRPr lang="en-US" sz="1000" dirty="0"/>
          </a:p>
        </p:txBody>
      </p:sp>
      <p:sp>
        <p:nvSpPr>
          <p:cNvPr id="35" name="Text 33"/>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13</a:t>
            </a:r>
            <a:endParaRPr lang="en-US" sz="1000" dirty="0"/>
          </a:p>
        </p:txBody>
      </p:sp>
      <p:sp>
        <p:nvSpPr>
          <p:cNvPr id="36" name="Text 34"/>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CE2"/>
        </a:solidFill>
        <a:effectLst/>
      </p:bgPr>
    </p:bg>
    <p:spTree>
      <p:nvGrpSpPr>
        <p:cNvPr id="1" name=""/>
        <p:cNvGrpSpPr/>
        <p:nvPr/>
      </p:nvGrpSpPr>
      <p:grpSpPr>
        <a:xfrm>
          <a:off x="0" y="0"/>
          <a:ext cx="0" cy="0"/>
          <a:chOff x="0" y="0"/>
          <a:chExt cx="0" cy="0"/>
        </a:xfrm>
      </p:grpSpPr>
      <p:sp>
        <p:nvSpPr>
          <p:cNvPr id="2" name="Shape 0"/>
          <p:cNvSpPr/>
          <p:nvPr/>
        </p:nvSpPr>
        <p:spPr>
          <a:xfrm>
            <a:off x="548640" y="411480"/>
            <a:ext cx="1828800" cy="384048"/>
          </a:xfrm>
          <a:prstGeom prst="roundRect">
            <a:avLst>
              <a:gd name="adj" fmla="val 50000"/>
            </a:avLst>
          </a:prstGeom>
          <a:solidFill>
            <a:srgbClr val="6D2E46"/>
          </a:solidFill>
          <a:ln/>
        </p:spPr>
        <p:txBody>
          <a:bodyPr/>
          <a:lstStyle/>
          <a:p>
            <a:endParaRPr lang="tr-TR"/>
          </a:p>
        </p:txBody>
      </p:sp>
      <p:sp>
        <p:nvSpPr>
          <p:cNvPr id="3" name="Text 1"/>
          <p:cNvSpPr/>
          <p:nvPr/>
        </p:nvSpPr>
        <p:spPr>
          <a:xfrm>
            <a:off x="548640" y="411480"/>
            <a:ext cx="1828800" cy="384048"/>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SINIRLILIKLAR</a:t>
            </a:r>
            <a:endParaRPr lang="en-US" sz="1100" dirty="0"/>
          </a:p>
        </p:txBody>
      </p:sp>
      <p:sp>
        <p:nvSpPr>
          <p:cNvPr id="4" name="Text 2"/>
          <p:cNvSpPr/>
          <p:nvPr/>
        </p:nvSpPr>
        <p:spPr>
          <a:xfrm>
            <a:off x="548640" y="914400"/>
            <a:ext cx="11064240" cy="685800"/>
          </a:xfrm>
          <a:prstGeom prst="rect">
            <a:avLst/>
          </a:prstGeom>
          <a:noFill/>
          <a:ln/>
        </p:spPr>
        <p:txBody>
          <a:bodyPr wrap="square" lIns="0" tIns="0" rIns="0" bIns="0" rtlCol="0" anchor="ctr"/>
          <a:lstStyle/>
          <a:p>
            <a:pPr marL="0" indent="0" algn="l">
              <a:buNone/>
            </a:pPr>
            <a:r>
              <a:rPr lang="en-US" sz="3000" b="1" dirty="0">
                <a:solidFill>
                  <a:srgbClr val="6D2E46"/>
                </a:solidFill>
                <a:latin typeface="Cambria" pitchFamily="34" charset="0"/>
                <a:ea typeface="Cambria" pitchFamily="34" charset="-122"/>
                <a:cs typeface="Cambria" pitchFamily="34" charset="-120"/>
              </a:rPr>
              <a:t>Sınırlılıklar ve Gelecek Çalışmalar</a:t>
            </a:r>
            <a:endParaRPr lang="en-US" sz="3000" dirty="0"/>
          </a:p>
        </p:txBody>
      </p:sp>
      <p:sp>
        <p:nvSpPr>
          <p:cNvPr id="5" name="Text 3"/>
          <p:cNvSpPr/>
          <p:nvPr/>
        </p:nvSpPr>
        <p:spPr>
          <a:xfrm>
            <a:off x="566928" y="1572768"/>
            <a:ext cx="11064240" cy="365760"/>
          </a:xfrm>
          <a:prstGeom prst="rect">
            <a:avLst/>
          </a:prstGeom>
          <a:noFill/>
          <a:ln/>
        </p:spPr>
        <p:txBody>
          <a:bodyPr wrap="square" lIns="0" tIns="0" rIns="0" bIns="0" rtlCol="0" anchor="ctr"/>
          <a:lstStyle/>
          <a:p>
            <a:pPr marL="0" indent="0" algn="l">
              <a:buNone/>
            </a:pPr>
            <a:r>
              <a:rPr lang="en-US" sz="1400" i="1" dirty="0">
                <a:solidFill>
                  <a:srgbClr val="7A6B6F"/>
                </a:solidFill>
                <a:latin typeface="Calibri" pitchFamily="34" charset="0"/>
                <a:ea typeface="Calibri" pitchFamily="34" charset="-122"/>
                <a:cs typeface="Calibri" pitchFamily="34" charset="-120"/>
              </a:rPr>
              <a:t>Dürüst değerlendirme ve yol haritası</a:t>
            </a:r>
            <a:endParaRPr lang="en-US" sz="1400" dirty="0"/>
          </a:p>
        </p:txBody>
      </p:sp>
      <p:sp>
        <p:nvSpPr>
          <p:cNvPr id="6" name="Shape 4"/>
          <p:cNvSpPr/>
          <p:nvPr/>
        </p:nvSpPr>
        <p:spPr>
          <a:xfrm>
            <a:off x="548640" y="2240280"/>
            <a:ext cx="5440680" cy="3749040"/>
          </a:xfrm>
          <a:prstGeom prst="roundRect">
            <a:avLst>
              <a:gd name="adj" fmla="val 2195"/>
            </a:avLst>
          </a:prstGeom>
          <a:solidFill>
            <a:srgbClr val="FBF6EF"/>
          </a:solidFill>
          <a:ln/>
          <a:effectLst>
            <a:outerShdw blurRad="88900" dist="38100" dir="5400000" algn="bl" rotWithShape="0">
              <a:srgbClr val="000000">
                <a:alpha val="16000"/>
              </a:srgbClr>
            </a:outerShdw>
          </a:effectLst>
        </p:spPr>
        <p:txBody>
          <a:bodyPr/>
          <a:lstStyle/>
          <a:p>
            <a:endParaRPr lang="tr-TR"/>
          </a:p>
        </p:txBody>
      </p:sp>
      <p:sp>
        <p:nvSpPr>
          <p:cNvPr id="7" name="Shape 5"/>
          <p:cNvSpPr/>
          <p:nvPr/>
        </p:nvSpPr>
        <p:spPr>
          <a:xfrm>
            <a:off x="822960" y="2514600"/>
            <a:ext cx="658368" cy="658368"/>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8" name="Image 0" descr="preencoded.png"/>
          <p:cNvPicPr>
            <a:picLocks noChangeAspect="1"/>
          </p:cNvPicPr>
          <p:nvPr/>
        </p:nvPicPr>
        <p:blipFill>
          <a:blip r:embed="rId3"/>
          <a:stretch>
            <a:fillRect/>
          </a:stretch>
        </p:blipFill>
        <p:spPr>
          <a:xfrm>
            <a:off x="994136" y="2685776"/>
            <a:ext cx="316017" cy="316017"/>
          </a:xfrm>
          <a:prstGeom prst="rect">
            <a:avLst/>
          </a:prstGeom>
        </p:spPr>
      </p:pic>
      <p:sp>
        <p:nvSpPr>
          <p:cNvPr id="9" name="Text 6"/>
          <p:cNvSpPr/>
          <p:nvPr/>
        </p:nvSpPr>
        <p:spPr>
          <a:xfrm>
            <a:off x="1627632" y="2560320"/>
            <a:ext cx="4023360" cy="548640"/>
          </a:xfrm>
          <a:prstGeom prst="rect">
            <a:avLst/>
          </a:prstGeom>
          <a:noFill/>
          <a:ln/>
        </p:spPr>
        <p:txBody>
          <a:bodyPr wrap="square" lIns="0" tIns="0" rIns="0" bIns="0" rtlCol="0" anchor="ctr"/>
          <a:lstStyle/>
          <a:p>
            <a:pPr marL="0" indent="0">
              <a:buNone/>
            </a:pPr>
            <a:r>
              <a:rPr lang="en-US" sz="1900" b="1" dirty="0">
                <a:solidFill>
                  <a:srgbClr val="A26769"/>
                </a:solidFill>
                <a:latin typeface="Cambria" pitchFamily="34" charset="0"/>
                <a:ea typeface="Cambria" pitchFamily="34" charset="-122"/>
                <a:cs typeface="Cambria" pitchFamily="34" charset="-120"/>
              </a:rPr>
              <a:t>Sınırlılıklar</a:t>
            </a:r>
            <a:endParaRPr lang="en-US" sz="1900" dirty="0"/>
          </a:p>
        </p:txBody>
      </p:sp>
      <p:sp>
        <p:nvSpPr>
          <p:cNvPr id="10" name="Text 7"/>
          <p:cNvSpPr/>
          <p:nvPr/>
        </p:nvSpPr>
        <p:spPr>
          <a:xfrm>
            <a:off x="914400" y="3291840"/>
            <a:ext cx="4937760" cy="2606040"/>
          </a:xfrm>
          <a:prstGeom prst="rect">
            <a:avLst/>
          </a:prstGeom>
          <a:noFill/>
          <a:ln/>
        </p:spPr>
        <p:txBody>
          <a:bodyPr wrap="square" lIns="0" tIns="0" rIns="0" bIns="0" rtlCol="0" anchor="ctr"/>
          <a:lstStyle/>
          <a:p>
            <a:pPr marL="0" indent="0">
              <a:lnSpc>
                <a:spcPct val="100000"/>
              </a:lnSpc>
              <a:spcAft>
                <a:spcPts val="1000"/>
              </a:spcAft>
              <a:buNone/>
            </a:pPr>
            <a:r>
              <a:rPr lang="en-US" sz="1200" b="1" dirty="0">
                <a:solidFill>
                  <a:srgbClr val="2B2024"/>
                </a:solidFill>
                <a:latin typeface="Calibri" pitchFamily="34" charset="0"/>
                <a:ea typeface="Calibri" pitchFamily="34" charset="-122"/>
                <a:cs typeface="Calibri" pitchFamily="34" charset="-120"/>
              </a:rPr>
              <a:t>Pilot mağaza kapsamı</a:t>
            </a:r>
            <a:r>
              <a:rPr lang="en-US" sz="1200" dirty="0">
                <a:solidFill>
                  <a:srgbClr val="7A6B6F"/>
                </a:solidFill>
                <a:latin typeface="Calibri" pitchFamily="34" charset="0"/>
                <a:ea typeface="Calibri" pitchFamily="34" charset="-122"/>
                <a:cs typeface="Calibri" pitchFamily="34" charset="-120"/>
              </a:rPr>
              <a:t> — sonuçlar tüm Türkiye ağına doğrudan genellenemez</a:t>
            </a:r>
            <a:endParaRPr lang="en-US" sz="1200" dirty="0"/>
          </a:p>
          <a:p>
            <a:pPr marL="0" indent="0">
              <a:lnSpc>
                <a:spcPct val="100000"/>
              </a:lnSpc>
              <a:spcAft>
                <a:spcPts val="1000"/>
              </a:spcAft>
              <a:buNone/>
            </a:pPr>
            <a:r>
              <a:rPr lang="en-US" sz="1200" b="1" dirty="0">
                <a:solidFill>
                  <a:srgbClr val="2B2024"/>
                </a:solidFill>
                <a:latin typeface="Calibri" pitchFamily="34" charset="0"/>
                <a:ea typeface="Calibri" pitchFamily="34" charset="-122"/>
                <a:cs typeface="Calibri" pitchFamily="34" charset="-120"/>
              </a:rPr>
              <a:t>Homojen filo varsayımı</a:t>
            </a:r>
            <a:r>
              <a:rPr lang="en-US" sz="1200" dirty="0">
                <a:solidFill>
                  <a:srgbClr val="7A6B6F"/>
                </a:solidFill>
                <a:latin typeface="Calibri" pitchFamily="34" charset="0"/>
                <a:ea typeface="Calibri" pitchFamily="34" charset="-122"/>
                <a:cs typeface="Calibri" pitchFamily="34" charset="-120"/>
              </a:rPr>
              <a:t> — gerçek filoda farklı araç tipi/kapasitesi olabilir</a:t>
            </a:r>
            <a:endParaRPr lang="en-US" sz="1200" dirty="0"/>
          </a:p>
          <a:p>
            <a:pPr marL="0" indent="0">
              <a:lnSpc>
                <a:spcPct val="100000"/>
              </a:lnSpc>
              <a:spcAft>
                <a:spcPts val="1000"/>
              </a:spcAft>
              <a:buNone/>
            </a:pPr>
            <a:r>
              <a:rPr lang="en-US" sz="1200" b="1" dirty="0">
                <a:solidFill>
                  <a:srgbClr val="2B2024"/>
                </a:solidFill>
                <a:latin typeface="Calibri" pitchFamily="34" charset="0"/>
                <a:ea typeface="Calibri" pitchFamily="34" charset="-122"/>
                <a:cs typeface="Calibri" pitchFamily="34" charset="-120"/>
              </a:rPr>
              <a:t>TCO dışı maliyet kalemleri</a:t>
            </a:r>
            <a:r>
              <a:rPr lang="en-US" sz="1200" dirty="0">
                <a:solidFill>
                  <a:srgbClr val="7A6B6F"/>
                </a:solidFill>
                <a:latin typeface="Calibri" pitchFamily="34" charset="0"/>
                <a:ea typeface="Calibri" pitchFamily="34" charset="-122"/>
                <a:cs typeface="Calibri" pitchFamily="34" charset="-120"/>
              </a:rPr>
              <a:t> — bakım, sigorta, amortisman dahil değil</a:t>
            </a:r>
            <a:endParaRPr lang="en-US" sz="1200" dirty="0"/>
          </a:p>
          <a:p>
            <a:pPr marL="0" indent="0">
              <a:lnSpc>
                <a:spcPct val="100000"/>
              </a:lnSpc>
              <a:spcAft>
                <a:spcPts val="1000"/>
              </a:spcAft>
              <a:buNone/>
            </a:pPr>
            <a:r>
              <a:rPr lang="en-US" sz="1200" b="1" dirty="0">
                <a:solidFill>
                  <a:srgbClr val="2B2024"/>
                </a:solidFill>
                <a:latin typeface="Calibri" pitchFamily="34" charset="0"/>
                <a:ea typeface="Calibri" pitchFamily="34" charset="-122"/>
                <a:cs typeface="Calibri" pitchFamily="34" charset="-120"/>
              </a:rPr>
              <a:t>Statik talep varsayımı</a:t>
            </a:r>
            <a:r>
              <a:rPr lang="en-US" sz="1200" dirty="0">
                <a:solidFill>
                  <a:srgbClr val="7A6B6F"/>
                </a:solidFill>
                <a:latin typeface="Calibri" pitchFamily="34" charset="0"/>
                <a:ea typeface="Calibri" pitchFamily="34" charset="-122"/>
                <a:cs typeface="Calibri" pitchFamily="34" charset="-120"/>
              </a:rPr>
              <a:t> — mağaza başı talep sabit kabul edildi</a:t>
            </a:r>
            <a:endParaRPr lang="en-US" sz="1200" dirty="0"/>
          </a:p>
        </p:txBody>
      </p:sp>
      <p:sp>
        <p:nvSpPr>
          <p:cNvPr id="11" name="Shape 8"/>
          <p:cNvSpPr/>
          <p:nvPr/>
        </p:nvSpPr>
        <p:spPr>
          <a:xfrm>
            <a:off x="6172200" y="2240280"/>
            <a:ext cx="5440680" cy="3749040"/>
          </a:xfrm>
          <a:prstGeom prst="roundRect">
            <a:avLst>
              <a:gd name="adj" fmla="val 2195"/>
            </a:avLst>
          </a:prstGeom>
          <a:solidFill>
            <a:srgbClr val="6D2E46"/>
          </a:solidFill>
          <a:ln/>
          <a:effectLst>
            <a:outerShdw blurRad="88900" dist="38100" dir="5400000" algn="bl" rotWithShape="0">
              <a:srgbClr val="000000">
                <a:alpha val="16000"/>
              </a:srgbClr>
            </a:outerShdw>
          </a:effectLst>
        </p:spPr>
        <p:txBody>
          <a:bodyPr/>
          <a:lstStyle/>
          <a:p>
            <a:endParaRPr lang="tr-TR"/>
          </a:p>
        </p:txBody>
      </p:sp>
      <p:sp>
        <p:nvSpPr>
          <p:cNvPr id="12" name="Shape 9"/>
          <p:cNvSpPr/>
          <p:nvPr/>
        </p:nvSpPr>
        <p:spPr>
          <a:xfrm>
            <a:off x="6446520" y="2514600"/>
            <a:ext cx="658368" cy="658368"/>
          </a:xfrm>
          <a:prstGeom prst="ellipse">
            <a:avLst/>
          </a:prstGeom>
          <a:solidFill>
            <a:srgbClr val="C8902B"/>
          </a:solidFill>
          <a:ln/>
          <a:effectLst>
            <a:outerShdw blurRad="63500" dist="25400" dir="5400000" algn="bl" rotWithShape="0">
              <a:srgbClr val="000000">
                <a:alpha val="10000"/>
              </a:srgbClr>
            </a:outerShdw>
          </a:effectLst>
        </p:spPr>
        <p:txBody>
          <a:bodyPr/>
          <a:lstStyle/>
          <a:p>
            <a:endParaRPr lang="tr-TR"/>
          </a:p>
        </p:txBody>
      </p:sp>
      <p:pic>
        <p:nvPicPr>
          <p:cNvPr id="13" name="Image 1" descr="preencoded.png"/>
          <p:cNvPicPr>
            <a:picLocks noChangeAspect="1"/>
          </p:cNvPicPr>
          <p:nvPr/>
        </p:nvPicPr>
        <p:blipFill>
          <a:blip r:embed="rId4"/>
          <a:stretch>
            <a:fillRect/>
          </a:stretch>
        </p:blipFill>
        <p:spPr>
          <a:xfrm>
            <a:off x="6617696" y="2685776"/>
            <a:ext cx="316017" cy="316017"/>
          </a:xfrm>
          <a:prstGeom prst="rect">
            <a:avLst/>
          </a:prstGeom>
        </p:spPr>
      </p:pic>
      <p:sp>
        <p:nvSpPr>
          <p:cNvPr id="14" name="Text 10"/>
          <p:cNvSpPr/>
          <p:nvPr/>
        </p:nvSpPr>
        <p:spPr>
          <a:xfrm>
            <a:off x="7251192" y="2560320"/>
            <a:ext cx="4023360" cy="54864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Gelecek Çalışmalar</a:t>
            </a:r>
            <a:endParaRPr lang="en-US" sz="1900" dirty="0"/>
          </a:p>
        </p:txBody>
      </p:sp>
      <p:sp>
        <p:nvSpPr>
          <p:cNvPr id="15" name="Text 11"/>
          <p:cNvSpPr/>
          <p:nvPr/>
        </p:nvSpPr>
        <p:spPr>
          <a:xfrm>
            <a:off x="6537960" y="3291840"/>
            <a:ext cx="4937760" cy="2606040"/>
          </a:xfrm>
          <a:prstGeom prst="rect">
            <a:avLst/>
          </a:prstGeom>
          <a:noFill/>
          <a:ln/>
        </p:spPr>
        <p:txBody>
          <a:bodyPr wrap="square" lIns="0" tIns="0" rIns="0" bIns="0" rtlCol="0" anchor="ctr"/>
          <a:lstStyle/>
          <a:p>
            <a:pPr marL="0" indent="0">
              <a:lnSpc>
                <a:spcPct val="100000"/>
              </a:lnSpc>
              <a:spcAft>
                <a:spcPts val="1000"/>
              </a:spcAft>
              <a:buNone/>
            </a:pPr>
            <a:r>
              <a:rPr lang="en-US" sz="1200" b="1" dirty="0">
                <a:solidFill>
                  <a:srgbClr val="C8902B"/>
                </a:solidFill>
                <a:latin typeface="Calibri" pitchFamily="34" charset="0"/>
                <a:ea typeface="Calibri" pitchFamily="34" charset="-122"/>
                <a:cs typeface="Calibri" pitchFamily="34" charset="-120"/>
              </a:rPr>
              <a:t>Tüm mağaza ağına genişletme</a:t>
            </a:r>
            <a:r>
              <a:rPr lang="en-US" sz="1200" dirty="0">
                <a:solidFill>
                  <a:srgbClr val="F4ECE2"/>
                </a:solidFill>
                <a:latin typeface="Calibri" pitchFamily="34" charset="0"/>
                <a:ea typeface="Calibri" pitchFamily="34" charset="-122"/>
                <a:cs typeface="Calibri" pitchFamily="34" charset="-120"/>
              </a:rPr>
              <a:t> 533 mağaza ile tam kapsamlı analiz</a:t>
            </a:r>
            <a:endParaRPr lang="en-US" sz="1200" dirty="0"/>
          </a:p>
          <a:p>
            <a:pPr marL="0" indent="0">
              <a:lnSpc>
                <a:spcPct val="100000"/>
              </a:lnSpc>
              <a:spcAft>
                <a:spcPts val="1000"/>
              </a:spcAft>
              <a:buNone/>
            </a:pPr>
            <a:r>
              <a:rPr lang="en-US" sz="1200" b="1" dirty="0">
                <a:solidFill>
                  <a:srgbClr val="C8902B"/>
                </a:solidFill>
                <a:latin typeface="Calibri" pitchFamily="34" charset="0"/>
                <a:ea typeface="Calibri" pitchFamily="34" charset="-122"/>
                <a:cs typeface="Calibri" pitchFamily="34" charset="-120"/>
              </a:rPr>
              <a:t>TCO tabanlı maliyet modeli</a:t>
            </a:r>
            <a:r>
              <a:rPr lang="en-US" sz="1200" dirty="0">
                <a:solidFill>
                  <a:srgbClr val="F4ECE2"/>
                </a:solidFill>
                <a:latin typeface="Calibri" pitchFamily="34" charset="0"/>
                <a:ea typeface="Calibri" pitchFamily="34" charset="-122"/>
                <a:cs typeface="Calibri" pitchFamily="34" charset="-120"/>
              </a:rPr>
              <a:t> — bakım, sigorta, amortisman dahil</a:t>
            </a:r>
            <a:endParaRPr lang="en-US" sz="1200" dirty="0"/>
          </a:p>
          <a:p>
            <a:pPr marL="0" indent="0">
              <a:lnSpc>
                <a:spcPct val="100000"/>
              </a:lnSpc>
              <a:spcAft>
                <a:spcPts val="1000"/>
              </a:spcAft>
              <a:buNone/>
            </a:pPr>
            <a:r>
              <a:rPr lang="en-US" sz="1200" b="1" dirty="0">
                <a:solidFill>
                  <a:srgbClr val="C8902B"/>
                </a:solidFill>
                <a:latin typeface="Calibri" pitchFamily="34" charset="0"/>
                <a:ea typeface="Calibri" pitchFamily="34" charset="-122"/>
                <a:cs typeface="Calibri" pitchFamily="34" charset="-120"/>
              </a:rPr>
              <a:t>Heterojen filo modellemesi</a:t>
            </a:r>
            <a:r>
              <a:rPr lang="en-US" sz="1200" dirty="0">
                <a:solidFill>
                  <a:srgbClr val="F4ECE2"/>
                </a:solidFill>
                <a:latin typeface="Calibri" pitchFamily="34" charset="0"/>
                <a:ea typeface="Calibri" pitchFamily="34" charset="-122"/>
                <a:cs typeface="Calibri" pitchFamily="34" charset="-120"/>
              </a:rPr>
              <a:t> — farklı araç tipi/kapasitesi</a:t>
            </a:r>
            <a:endParaRPr lang="en-US" sz="1200" dirty="0"/>
          </a:p>
          <a:p>
            <a:pPr marL="0" indent="0">
              <a:lnSpc>
                <a:spcPct val="100000"/>
              </a:lnSpc>
              <a:spcAft>
                <a:spcPts val="1000"/>
              </a:spcAft>
              <a:buNone/>
            </a:pPr>
            <a:r>
              <a:rPr lang="en-US" sz="1200" b="1" dirty="0">
                <a:solidFill>
                  <a:srgbClr val="C8902B"/>
                </a:solidFill>
                <a:latin typeface="Calibri" pitchFamily="34" charset="0"/>
                <a:ea typeface="Calibri" pitchFamily="34" charset="-122"/>
                <a:cs typeface="Calibri" pitchFamily="34" charset="-120"/>
              </a:rPr>
              <a:t>Zaman pencereli MDCVRP</a:t>
            </a:r>
            <a:r>
              <a:rPr lang="en-US" sz="1200" dirty="0">
                <a:solidFill>
                  <a:srgbClr val="F4ECE2"/>
                </a:solidFill>
                <a:latin typeface="Calibri" pitchFamily="34" charset="0"/>
                <a:ea typeface="Calibri" pitchFamily="34" charset="-122"/>
                <a:cs typeface="Calibri" pitchFamily="34" charset="-120"/>
              </a:rPr>
              <a:t> — AVM teslimat saatleri kısıt olarak eklenmesi</a:t>
            </a:r>
            <a:endParaRPr lang="en-US" sz="1200" dirty="0"/>
          </a:p>
          <a:p>
            <a:pPr marL="0" indent="0">
              <a:lnSpc>
                <a:spcPct val="100000"/>
              </a:lnSpc>
              <a:spcAft>
                <a:spcPts val="1000"/>
              </a:spcAft>
              <a:buNone/>
            </a:pPr>
            <a:r>
              <a:rPr lang="en-US" sz="1200" b="1" dirty="0">
                <a:solidFill>
                  <a:srgbClr val="C8902B"/>
                </a:solidFill>
                <a:latin typeface="Calibri" pitchFamily="34" charset="0"/>
                <a:ea typeface="Calibri" pitchFamily="34" charset="-122"/>
                <a:cs typeface="Calibri" pitchFamily="34" charset="-120"/>
              </a:rPr>
              <a:t>Farklı meta-sezgisel yöntemler</a:t>
            </a:r>
            <a:r>
              <a:rPr lang="en-US" sz="1200" dirty="0">
                <a:solidFill>
                  <a:srgbClr val="F4ECE2"/>
                </a:solidFill>
                <a:latin typeface="Calibri" pitchFamily="34" charset="0"/>
                <a:ea typeface="Calibri" pitchFamily="34" charset="-122"/>
                <a:cs typeface="Calibri" pitchFamily="34" charset="-120"/>
              </a:rPr>
              <a:t> — genetik algoritma, tabu arama, tavlama benzetimi</a:t>
            </a:r>
            <a:endParaRPr lang="en-US" sz="1200" dirty="0"/>
          </a:p>
        </p:txBody>
      </p:sp>
      <p:sp>
        <p:nvSpPr>
          <p:cNvPr id="16" name="Text 1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000" dirty="0">
                <a:solidFill>
                  <a:srgbClr val="A26769"/>
                </a:solidFill>
                <a:latin typeface="Calibri" pitchFamily="34" charset="0"/>
                <a:ea typeface="Calibri" pitchFamily="34" charset="-122"/>
                <a:cs typeface="Calibri" pitchFamily="34" charset="-120"/>
              </a:rPr>
              <a:t>14</a:t>
            </a:r>
            <a:endParaRPr lang="en-US" sz="1000" dirty="0"/>
          </a:p>
        </p:txBody>
      </p:sp>
      <p:sp>
        <p:nvSpPr>
          <p:cNvPr id="17" name="Text 13"/>
          <p:cNvSpPr/>
          <p:nvPr/>
        </p:nvSpPr>
        <p:spPr>
          <a:xfrm>
            <a:off x="548640" y="6355080"/>
            <a:ext cx="6400800" cy="320040"/>
          </a:xfrm>
          <a:prstGeom prst="rect">
            <a:avLst/>
          </a:prstGeom>
          <a:noFill/>
          <a:ln/>
        </p:spPr>
        <p:txBody>
          <a:bodyPr wrap="square" lIns="0" tIns="0" rIns="0" bIns="0" rtlCol="0" anchor="ctr"/>
          <a:lstStyle/>
          <a:p>
            <a:pPr marL="0" indent="0" algn="l">
              <a:buNone/>
            </a:pPr>
            <a:r>
              <a:rPr lang="en-US" sz="900" dirty="0">
                <a:solidFill>
                  <a:srgbClr val="7A6B6F"/>
                </a:solidFill>
                <a:latin typeface="Calibri" pitchFamily="34" charset="0"/>
                <a:ea typeface="Calibri" pitchFamily="34" charset="-122"/>
                <a:cs typeface="Calibri" pitchFamily="34" charset="-120"/>
              </a:rPr>
              <a:t>LC Waikiki · Araç Rotalama &amp; Maliyet Analizi</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A26769">
              <a:alpha val="20000"/>
            </a:srgbClr>
          </a:solidFill>
          <a:ln/>
        </p:spPr>
        <p:txBody>
          <a:bodyPr/>
          <a:lstStyle/>
          <a:p>
            <a:endParaRPr lang="tr-TR"/>
          </a:p>
        </p:txBody>
      </p:sp>
      <p:sp>
        <p:nvSpPr>
          <p:cNvPr id="3" name="Shape 1"/>
          <p:cNvSpPr/>
          <p:nvPr/>
        </p:nvSpPr>
        <p:spPr>
          <a:xfrm>
            <a:off x="10241280" y="-1463040"/>
            <a:ext cx="3840480" cy="3840480"/>
          </a:xfrm>
          <a:prstGeom prst="ellipse">
            <a:avLst/>
          </a:prstGeom>
          <a:solidFill>
            <a:srgbClr val="C8902B">
              <a:alpha val="16000"/>
            </a:srgbClr>
          </a:solidFill>
          <a:ln/>
        </p:spPr>
        <p:txBody>
          <a:bodyPr/>
          <a:lstStyle/>
          <a:p>
            <a:endParaRPr lang="tr-TR"/>
          </a:p>
        </p:txBody>
      </p:sp>
      <p:sp>
        <p:nvSpPr>
          <p:cNvPr id="4" name="Shape 2"/>
          <p:cNvSpPr/>
          <p:nvPr/>
        </p:nvSpPr>
        <p:spPr>
          <a:xfrm>
            <a:off x="548640" y="502920"/>
            <a:ext cx="2377440" cy="411480"/>
          </a:xfrm>
          <a:prstGeom prst="roundRect">
            <a:avLst>
              <a:gd name="adj" fmla="val 48889"/>
            </a:avLst>
          </a:prstGeom>
          <a:solidFill>
            <a:srgbClr val="C8902B"/>
          </a:solidFill>
          <a:ln/>
        </p:spPr>
        <p:txBody>
          <a:bodyPr/>
          <a:lstStyle/>
          <a:p>
            <a:endParaRPr lang="tr-TR"/>
          </a:p>
        </p:txBody>
      </p:sp>
      <p:sp>
        <p:nvSpPr>
          <p:cNvPr id="5" name="Text 3"/>
          <p:cNvSpPr/>
          <p:nvPr/>
        </p:nvSpPr>
        <p:spPr>
          <a:xfrm>
            <a:off x="548640" y="502920"/>
            <a:ext cx="2377440" cy="411480"/>
          </a:xfrm>
          <a:prstGeom prst="rect">
            <a:avLst/>
          </a:prstGeom>
          <a:noFill/>
          <a:ln/>
        </p:spPr>
        <p:txBody>
          <a:bodyPr wrap="square" lIns="0" tIns="0" rIns="0" bIns="0" rtlCol="0" anchor="ctr"/>
          <a:lstStyle/>
          <a:p>
            <a:pPr marL="0" indent="0" algn="ctr">
              <a:buNone/>
            </a:pPr>
            <a:r>
              <a:rPr lang="en-US" sz="1200" b="1" kern="0" spc="300" dirty="0">
                <a:solidFill>
                  <a:srgbClr val="6D2E46"/>
                </a:solidFill>
                <a:latin typeface="Calibri" pitchFamily="34" charset="0"/>
                <a:ea typeface="Calibri" pitchFamily="34" charset="-122"/>
                <a:cs typeface="Calibri" pitchFamily="34" charset="-120"/>
              </a:rPr>
              <a:t>SONUÇ</a:t>
            </a:r>
            <a:endParaRPr lang="en-US" sz="1200" dirty="0"/>
          </a:p>
        </p:txBody>
      </p:sp>
      <p:sp>
        <p:nvSpPr>
          <p:cNvPr id="6" name="Text 4"/>
          <p:cNvSpPr/>
          <p:nvPr/>
        </p:nvSpPr>
        <p:spPr>
          <a:xfrm>
            <a:off x="548640" y="1143000"/>
            <a:ext cx="10972800" cy="1371600"/>
          </a:xfrm>
          <a:prstGeom prst="rect">
            <a:avLst/>
          </a:prstGeom>
          <a:noFill/>
          <a:ln/>
        </p:spPr>
        <p:txBody>
          <a:bodyPr wrap="square" lIns="0" tIns="0" rIns="0" bIns="0" rtlCol="0" anchor="ctr"/>
          <a:lstStyle/>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Rota optimizasyonunu maliyet analiziyle birleştirerek</a:t>
            </a:r>
            <a:endParaRPr lang="en-US" sz="2800" dirty="0"/>
          </a:p>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perakende dağıtımı için uygulanabilir bir karar destek modeli</a:t>
            </a:r>
            <a:endParaRPr lang="en-US" sz="2800" dirty="0"/>
          </a:p>
        </p:txBody>
      </p:sp>
      <p:sp>
        <p:nvSpPr>
          <p:cNvPr id="7" name="Shape 5"/>
          <p:cNvSpPr/>
          <p:nvPr/>
        </p:nvSpPr>
        <p:spPr>
          <a:xfrm>
            <a:off x="548640" y="2788920"/>
            <a:ext cx="3593592" cy="2148840"/>
          </a:xfrm>
          <a:prstGeom prst="roundRect">
            <a:avLst>
              <a:gd name="adj" fmla="val 3830"/>
            </a:avLst>
          </a:prstGeom>
          <a:solidFill>
            <a:srgbClr val="5A2539"/>
          </a:solidFill>
          <a:ln/>
        </p:spPr>
        <p:txBody>
          <a:bodyPr/>
          <a:lstStyle/>
          <a:p>
            <a:endParaRPr lang="tr-TR"/>
          </a:p>
        </p:txBody>
      </p:sp>
      <p:sp>
        <p:nvSpPr>
          <p:cNvPr id="8" name="Shape 6"/>
          <p:cNvSpPr/>
          <p:nvPr/>
        </p:nvSpPr>
        <p:spPr>
          <a:xfrm>
            <a:off x="822960" y="306324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9" name="Image 0" descr="preencoded.png"/>
          <p:cNvPicPr>
            <a:picLocks noChangeAspect="1"/>
          </p:cNvPicPr>
          <p:nvPr/>
        </p:nvPicPr>
        <p:blipFill>
          <a:blip r:embed="rId3"/>
          <a:stretch>
            <a:fillRect/>
          </a:stretch>
        </p:blipFill>
        <p:spPr>
          <a:xfrm>
            <a:off x="1013155" y="3253435"/>
            <a:ext cx="351130" cy="351130"/>
          </a:xfrm>
          <a:prstGeom prst="rect">
            <a:avLst/>
          </a:prstGeom>
        </p:spPr>
      </p:pic>
      <p:sp>
        <p:nvSpPr>
          <p:cNvPr id="10" name="Text 7"/>
          <p:cNvSpPr/>
          <p:nvPr/>
        </p:nvSpPr>
        <p:spPr>
          <a:xfrm>
            <a:off x="822960" y="3886200"/>
            <a:ext cx="304495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Uygulanabilir rota yapısı</a:t>
            </a:r>
            <a:endParaRPr lang="en-US" sz="1500" dirty="0"/>
          </a:p>
        </p:txBody>
      </p:sp>
      <p:sp>
        <p:nvSpPr>
          <p:cNvPr id="11" name="Text 8"/>
          <p:cNvSpPr/>
          <p:nvPr/>
        </p:nvSpPr>
        <p:spPr>
          <a:xfrm>
            <a:off x="822960" y="4325112"/>
            <a:ext cx="3044952" cy="548640"/>
          </a:xfrm>
          <a:prstGeom prst="rect">
            <a:avLst/>
          </a:prstGeom>
          <a:noFill/>
          <a:ln/>
        </p:spPr>
        <p:txBody>
          <a:bodyPr wrap="square" lIns="0" tIns="0" rIns="0" bIns="0" rtlCol="0" anchor="ctr"/>
          <a:lstStyle/>
          <a:p>
            <a:pPr marL="0" indent="0">
              <a:lnSpc>
                <a:spcPct val="105000"/>
              </a:lnSpc>
              <a:buNone/>
            </a:pPr>
            <a:r>
              <a:rPr lang="en-US" sz="1100" dirty="0">
                <a:solidFill>
                  <a:srgbClr val="F4ECE2"/>
                </a:solidFill>
                <a:latin typeface="Calibri" pitchFamily="34" charset="0"/>
                <a:ea typeface="Calibri" pitchFamily="34" charset="-122"/>
                <a:cs typeface="Calibri" pitchFamily="34" charset="-120"/>
              </a:rPr>
              <a:t>6 araç, %82,5 doluluk, 540 dk limitinin altında rotalar</a:t>
            </a:r>
            <a:endParaRPr lang="en-US" sz="1100" dirty="0"/>
          </a:p>
        </p:txBody>
      </p:sp>
      <p:sp>
        <p:nvSpPr>
          <p:cNvPr id="12" name="Shape 9"/>
          <p:cNvSpPr/>
          <p:nvPr/>
        </p:nvSpPr>
        <p:spPr>
          <a:xfrm>
            <a:off x="4306824" y="2788920"/>
            <a:ext cx="3593592" cy="2148840"/>
          </a:xfrm>
          <a:prstGeom prst="roundRect">
            <a:avLst>
              <a:gd name="adj" fmla="val 3830"/>
            </a:avLst>
          </a:prstGeom>
          <a:solidFill>
            <a:srgbClr val="5A2539"/>
          </a:solidFill>
          <a:ln/>
        </p:spPr>
        <p:txBody>
          <a:bodyPr/>
          <a:lstStyle/>
          <a:p>
            <a:endParaRPr lang="tr-TR"/>
          </a:p>
        </p:txBody>
      </p:sp>
      <p:sp>
        <p:nvSpPr>
          <p:cNvPr id="13" name="Shape 10"/>
          <p:cNvSpPr/>
          <p:nvPr/>
        </p:nvSpPr>
        <p:spPr>
          <a:xfrm>
            <a:off x="4581144" y="306324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4" name="Image 1" descr="preencoded.png"/>
          <p:cNvPicPr>
            <a:picLocks noChangeAspect="1"/>
          </p:cNvPicPr>
          <p:nvPr/>
        </p:nvPicPr>
        <p:blipFill>
          <a:blip r:embed="rId4"/>
          <a:stretch>
            <a:fillRect/>
          </a:stretch>
        </p:blipFill>
        <p:spPr>
          <a:xfrm>
            <a:off x="4771339" y="3253435"/>
            <a:ext cx="351130" cy="351130"/>
          </a:xfrm>
          <a:prstGeom prst="rect">
            <a:avLst/>
          </a:prstGeom>
        </p:spPr>
      </p:pic>
      <p:sp>
        <p:nvSpPr>
          <p:cNvPr id="15" name="Text 11"/>
          <p:cNvSpPr/>
          <p:nvPr/>
        </p:nvSpPr>
        <p:spPr>
          <a:xfrm>
            <a:off x="4581144" y="3886200"/>
            <a:ext cx="304495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Kapsam uyumlu maliyet karşılaştırması</a:t>
            </a:r>
            <a:endParaRPr lang="en-US" sz="1500" dirty="0"/>
          </a:p>
        </p:txBody>
      </p:sp>
      <p:sp>
        <p:nvSpPr>
          <p:cNvPr id="16" name="Text 12"/>
          <p:cNvSpPr/>
          <p:nvPr/>
        </p:nvSpPr>
        <p:spPr>
          <a:xfrm>
            <a:off x="4581144" y="4325112"/>
            <a:ext cx="3044952" cy="548640"/>
          </a:xfrm>
          <a:prstGeom prst="rect">
            <a:avLst/>
          </a:prstGeom>
          <a:noFill/>
          <a:ln/>
        </p:spPr>
        <p:txBody>
          <a:bodyPr wrap="square" lIns="0" tIns="0" rIns="0" bIns="0" rtlCol="0" anchor="ctr"/>
          <a:lstStyle/>
          <a:p>
            <a:pPr marL="0" indent="0">
              <a:lnSpc>
                <a:spcPct val="105000"/>
              </a:lnSpc>
              <a:buNone/>
            </a:pPr>
            <a:r>
              <a:rPr lang="en-US" sz="1100" dirty="0">
                <a:solidFill>
                  <a:srgbClr val="F4ECE2"/>
                </a:solidFill>
                <a:latin typeface="Calibri" pitchFamily="34" charset="0"/>
                <a:ea typeface="Calibri" pitchFamily="34" charset="-122"/>
                <a:cs typeface="Calibri" pitchFamily="34" charset="-120"/>
              </a:rPr>
              <a:t>Pilot kapsamda %13,4, tüm sistemde %5,1 tasarruf</a:t>
            </a:r>
            <a:endParaRPr lang="en-US" sz="1100" dirty="0"/>
          </a:p>
        </p:txBody>
      </p:sp>
      <p:sp>
        <p:nvSpPr>
          <p:cNvPr id="17" name="Shape 13"/>
          <p:cNvSpPr/>
          <p:nvPr/>
        </p:nvSpPr>
        <p:spPr>
          <a:xfrm>
            <a:off x="8065008" y="2788920"/>
            <a:ext cx="3593592" cy="2148840"/>
          </a:xfrm>
          <a:prstGeom prst="roundRect">
            <a:avLst>
              <a:gd name="adj" fmla="val 3830"/>
            </a:avLst>
          </a:prstGeom>
          <a:solidFill>
            <a:srgbClr val="5A2539"/>
          </a:solidFill>
          <a:ln/>
        </p:spPr>
        <p:txBody>
          <a:bodyPr/>
          <a:lstStyle/>
          <a:p>
            <a:endParaRPr lang="tr-TR"/>
          </a:p>
        </p:txBody>
      </p:sp>
      <p:sp>
        <p:nvSpPr>
          <p:cNvPr id="18" name="Shape 14"/>
          <p:cNvSpPr/>
          <p:nvPr/>
        </p:nvSpPr>
        <p:spPr>
          <a:xfrm>
            <a:off x="8339328" y="3063240"/>
            <a:ext cx="731520" cy="731520"/>
          </a:xfrm>
          <a:prstGeom prst="ellipse">
            <a:avLst/>
          </a:prstGeom>
          <a:solidFill>
            <a:srgbClr val="A26769"/>
          </a:solidFill>
          <a:ln/>
          <a:effectLst>
            <a:outerShdw blurRad="63500" dist="25400" dir="5400000" algn="bl" rotWithShape="0">
              <a:srgbClr val="000000">
                <a:alpha val="10000"/>
              </a:srgbClr>
            </a:outerShdw>
          </a:effectLst>
        </p:spPr>
        <p:txBody>
          <a:bodyPr/>
          <a:lstStyle/>
          <a:p>
            <a:endParaRPr lang="tr-TR"/>
          </a:p>
        </p:txBody>
      </p:sp>
      <p:pic>
        <p:nvPicPr>
          <p:cNvPr id="19" name="Image 2" descr="preencoded.png"/>
          <p:cNvPicPr>
            <a:picLocks noChangeAspect="1"/>
          </p:cNvPicPr>
          <p:nvPr/>
        </p:nvPicPr>
        <p:blipFill>
          <a:blip r:embed="rId5"/>
          <a:stretch>
            <a:fillRect/>
          </a:stretch>
        </p:blipFill>
        <p:spPr>
          <a:xfrm>
            <a:off x="8529523" y="3253435"/>
            <a:ext cx="351130" cy="351130"/>
          </a:xfrm>
          <a:prstGeom prst="rect">
            <a:avLst/>
          </a:prstGeom>
        </p:spPr>
      </p:pic>
      <p:sp>
        <p:nvSpPr>
          <p:cNvPr id="20" name="Text 15"/>
          <p:cNvSpPr/>
          <p:nvPr/>
        </p:nvSpPr>
        <p:spPr>
          <a:xfrm>
            <a:off x="8339328" y="3886200"/>
            <a:ext cx="304495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Karar destek çerçevesi</a:t>
            </a:r>
            <a:endParaRPr lang="en-US" sz="1500" dirty="0"/>
          </a:p>
        </p:txBody>
      </p:sp>
      <p:sp>
        <p:nvSpPr>
          <p:cNvPr id="21" name="Text 16"/>
          <p:cNvSpPr/>
          <p:nvPr/>
        </p:nvSpPr>
        <p:spPr>
          <a:xfrm>
            <a:off x="8339328" y="4325112"/>
            <a:ext cx="3044952" cy="548640"/>
          </a:xfrm>
          <a:prstGeom prst="rect">
            <a:avLst/>
          </a:prstGeom>
          <a:noFill/>
          <a:ln/>
        </p:spPr>
        <p:txBody>
          <a:bodyPr wrap="square" lIns="0" tIns="0" rIns="0" bIns="0" rtlCol="0" anchor="ctr"/>
          <a:lstStyle/>
          <a:p>
            <a:pPr marL="0" indent="0">
              <a:lnSpc>
                <a:spcPct val="105000"/>
              </a:lnSpc>
              <a:buNone/>
            </a:pPr>
            <a:r>
              <a:rPr lang="en-US" sz="1100" dirty="0">
                <a:solidFill>
                  <a:srgbClr val="F4ECE2"/>
                </a:solidFill>
                <a:latin typeface="Calibri" pitchFamily="34" charset="0"/>
                <a:ea typeface="Calibri" pitchFamily="34" charset="-122"/>
                <a:cs typeface="Calibri" pitchFamily="34" charset="-120"/>
              </a:rPr>
              <a:t>Kesin yatırım kararı değil, TCO ile desteklenmesi gereken pilot analiz</a:t>
            </a:r>
            <a:endParaRPr lang="en-US" sz="1100" dirty="0"/>
          </a:p>
        </p:txBody>
      </p:sp>
      <p:sp>
        <p:nvSpPr>
          <p:cNvPr id="22" name="Text 17"/>
          <p:cNvSpPr/>
          <p:nvPr/>
        </p:nvSpPr>
        <p:spPr>
          <a:xfrm>
            <a:off x="548640" y="5257800"/>
            <a:ext cx="8229600" cy="548640"/>
          </a:xfrm>
          <a:prstGeom prst="rect">
            <a:avLst/>
          </a:prstGeom>
          <a:noFill/>
          <a:ln/>
        </p:spPr>
        <p:txBody>
          <a:bodyPr wrap="square" lIns="0" tIns="0" rIns="0" bIns="0" rtlCol="0" anchor="ctr"/>
          <a:lstStyle/>
          <a:p>
            <a:pPr marL="0" indent="0">
              <a:buNone/>
            </a:pPr>
            <a:r>
              <a:rPr lang="en-US" sz="2200" b="1" dirty="0" err="1">
                <a:solidFill>
                  <a:srgbClr val="FFFFFF"/>
                </a:solidFill>
                <a:latin typeface="Cambria" pitchFamily="34" charset="0"/>
                <a:ea typeface="Cambria" pitchFamily="34" charset="-122"/>
                <a:cs typeface="Cambria" pitchFamily="34" charset="-120"/>
              </a:rPr>
              <a:t>Teşekkür</a:t>
            </a:r>
            <a:r>
              <a:rPr lang="en-US" sz="2200" b="1" dirty="0">
                <a:solidFill>
                  <a:srgbClr val="FFFFFF"/>
                </a:solidFill>
                <a:latin typeface="Cambria" pitchFamily="34" charset="0"/>
                <a:ea typeface="Cambria" pitchFamily="34" charset="-122"/>
                <a:cs typeface="Cambria" pitchFamily="34" charset="-120"/>
              </a:rPr>
              <a:t> </a:t>
            </a:r>
            <a:r>
              <a:rPr lang="en-US" sz="2200" b="1" dirty="0" err="1">
                <a:solidFill>
                  <a:srgbClr val="FFFFFF"/>
                </a:solidFill>
                <a:latin typeface="Cambria" pitchFamily="34" charset="0"/>
                <a:ea typeface="Cambria" pitchFamily="34" charset="-122"/>
                <a:cs typeface="Cambria" pitchFamily="34" charset="-120"/>
              </a:rPr>
              <a:t>ederiz</a:t>
            </a: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3" name="Text 18"/>
          <p:cNvSpPr/>
          <p:nvPr/>
        </p:nvSpPr>
        <p:spPr>
          <a:xfrm>
            <a:off x="548640" y="5897880"/>
            <a:ext cx="10972800" cy="365760"/>
          </a:xfrm>
          <a:prstGeom prst="rect">
            <a:avLst/>
          </a:prstGeom>
          <a:noFill/>
          <a:ln/>
        </p:spPr>
        <p:txBody>
          <a:bodyPr wrap="square" lIns="0" tIns="0" rIns="0" bIns="0" rtlCol="0" anchor="ctr"/>
          <a:lstStyle/>
          <a:p>
            <a:pPr marL="0" indent="0">
              <a:buNone/>
            </a:pPr>
            <a:r>
              <a:rPr lang="en-US" sz="1100" dirty="0">
                <a:solidFill>
                  <a:srgbClr val="A26769"/>
                </a:solidFill>
                <a:latin typeface="Calibri" pitchFamily="34" charset="0"/>
                <a:ea typeface="Calibri" pitchFamily="34" charset="-122"/>
                <a:cs typeface="Calibri" pitchFamily="34" charset="-120"/>
              </a:rPr>
              <a:t>Oğuz Yalçın  ·  Zahid Sami Ata   |   Danışman: Prof. Dr. Şule Önsel Ekici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3645</Words>
  <Application>Microsoft Macintosh PowerPoint</Application>
  <PresentationFormat>Geniş ekran</PresentationFormat>
  <Paragraphs>333</Paragraphs>
  <Slides>16</Slides>
  <Notes>16</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16</vt:i4>
      </vt:variant>
    </vt:vector>
  </HeadingPairs>
  <TitlesOfParts>
    <vt:vector size="20"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Müşteri Talebine Dayalı Gıda İsrafının Azaltılması</dc:title>
  <dc:subject>PptxGenJS Presentation</dc:subject>
  <dc:creator>Yiğit Alp Aslan &amp; İlker Çoban</dc:creator>
  <cp:lastModifiedBy>oğuz yalçın</cp:lastModifiedBy>
  <cp:revision>2</cp:revision>
  <dcterms:created xsi:type="dcterms:W3CDTF">2026-06-29T15:49:15Z</dcterms:created>
  <dcterms:modified xsi:type="dcterms:W3CDTF">2026-07-09T19:22:34Z</dcterms:modified>
</cp:coreProperties>
</file>